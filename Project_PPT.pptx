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1" r:id="rId13"/>
    <p:sldId id="269" r:id="rId14"/>
    <p:sldId id="272" r:id="rId15"/>
    <p:sldId id="273" r:id="rId16"/>
    <p:sldId id="274" r:id="rId17"/>
    <p:sldId id="277" r:id="rId18"/>
    <p:sldId id="275" r:id="rId19"/>
    <p:sldId id="276" r:id="rId20"/>
    <p:sldId id="259" r:id="rId21"/>
  </p:sldIdLst>
  <p:sldSz cx="12192000" cy="6858000"/>
  <p:notesSz cx="6858000" cy="9144000"/>
  <p:embeddedFontLst>
    <p:embeddedFont>
      <p:font typeface="Lato Black" panose="020B0604020202020204" charset="0"/>
      <p:bold r:id="rId23"/>
      <p:boldItalic r:id="rId24"/>
    </p:embeddedFont>
    <p:embeddedFont>
      <p:font typeface="Libre Baskervill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15" dt="2026-09-17T05:40:47.490"/>
    <p1510:client id="{44A8FAFF-8F07-11BF-DAAA-5537850C9392}" v="4" dt="2026-09-17T06:51:16.860"/>
    <p1510:client id="{BA45B320-EB2D-41EE-A00C-9FBB3C3BB827}" v="1107" dt="2026-09-16T17:06:26.942"/>
    <p1510:client id="{E07712BF-1A22-022B-1201-61C4DE837681}" v="11" dt="2026-09-17T06:53:25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wanth Chalamalla" userId="696db3abae221636" providerId="Windows Live" clId="Web-{E07712BF-1A22-022B-1201-61C4DE837681}"/>
    <pc:docChg chg="modSld">
      <pc:chgData name="Yashwanth Chalamalla" userId="696db3abae221636" providerId="Windows Live" clId="Web-{E07712BF-1A22-022B-1201-61C4DE837681}" dt="2026-09-17T06:53:25.910" v="6" actId="1076"/>
      <pc:docMkLst>
        <pc:docMk/>
      </pc:docMkLst>
      <pc:sldChg chg="addSp modSp modMedia addAnim">
        <pc:chgData name="Yashwanth Chalamalla" userId="696db3abae221636" providerId="Windows Live" clId="Web-{E07712BF-1A22-022B-1201-61C4DE837681}" dt="2026-09-17T06:53:25.910" v="6" actId="1076"/>
        <pc:sldMkLst>
          <pc:docMk/>
          <pc:sldMk cId="0" sldId="256"/>
        </pc:sldMkLst>
        <pc:picChg chg="add mod">
          <ac:chgData name="Yashwanth Chalamalla" userId="696db3abae221636" providerId="Windows Live" clId="Web-{E07712BF-1A22-022B-1201-61C4DE837681}" dt="2026-09-17T06:53:25.910" v="6" actId="1076"/>
          <ac:picMkLst>
            <pc:docMk/>
            <pc:sldMk cId="0" sldId="256"/>
            <ac:picMk id="2" creationId="{EDB4ACA7-14B8-E5A3-0B97-A8D08939222C}"/>
          </ac:picMkLst>
        </pc:picChg>
      </pc:sldChg>
      <pc:sldChg chg="modSp">
        <pc:chgData name="Yashwanth Chalamalla" userId="696db3abae221636" providerId="Windows Live" clId="Web-{E07712BF-1A22-022B-1201-61C4DE837681}" dt="2026-09-17T06:52:57.394" v="4" actId="20577"/>
        <pc:sldMkLst>
          <pc:docMk/>
          <pc:sldMk cId="0" sldId="257"/>
        </pc:sldMkLst>
        <pc:spChg chg="mod">
          <ac:chgData name="Yashwanth Chalamalla" userId="696db3abae221636" providerId="Windows Live" clId="Web-{E07712BF-1A22-022B-1201-61C4DE837681}" dt="2026-09-17T06:52:57.394" v="4" actId="20577"/>
          <ac:spMkLst>
            <pc:docMk/>
            <pc:sldMk cId="0" sldId="257"/>
            <ac:spMk id="104" creationId="{00000000-0000-0000-0000-000000000000}"/>
          </ac:spMkLst>
        </pc:spChg>
      </pc:sldChg>
    </pc:docChg>
  </pc:docChgLst>
  <pc:docChgLst>
    <pc:chgData name="Yashwanth Chalamalla" userId="696db3abae221636" providerId="Windows Live" clId="Web-{44A8FAFF-8F07-11BF-DAAA-5537850C9392}"/>
    <pc:docChg chg="modSld">
      <pc:chgData name="Yashwanth Chalamalla" userId="696db3abae221636" providerId="Windows Live" clId="Web-{44A8FAFF-8F07-11BF-DAAA-5537850C9392}" dt="2026-09-17T06:51:16.860" v="2" actId="20577"/>
      <pc:docMkLst>
        <pc:docMk/>
      </pc:docMkLst>
      <pc:sldChg chg="modSp">
        <pc:chgData name="Yashwanth Chalamalla" userId="696db3abae221636" providerId="Windows Live" clId="Web-{44A8FAFF-8F07-11BF-DAAA-5537850C9392}" dt="2026-09-17T06:51:16.860" v="2" actId="20577"/>
        <pc:sldMkLst>
          <pc:docMk/>
          <pc:sldMk cId="0" sldId="257"/>
        </pc:sldMkLst>
        <pc:spChg chg="mod">
          <ac:chgData name="Yashwanth Chalamalla" userId="696db3abae221636" providerId="Windows Live" clId="Web-{44A8FAFF-8F07-11BF-DAAA-5537850C9392}" dt="2026-09-17T06:51:16.860" v="2" actId="20577"/>
          <ac:spMkLst>
            <pc:docMk/>
            <pc:sldMk cId="0" sldId="257"/>
            <ac:spMk id="104" creationId="{00000000-0000-0000-0000-000000000000}"/>
          </ac:spMkLst>
        </pc:spChg>
      </pc:sldChg>
    </pc:docChg>
  </pc:docChgLst>
  <pc:docChgLst>
    <pc:chgData name="Yashwanth Chalamalla" userId="696db3abae221636" providerId="Windows Live" clId="Web-{BA45B320-EB2D-41EE-A00C-9FBB3C3BB827}"/>
    <pc:docChg chg="addSld delSld modSld sldOrd">
      <pc:chgData name="Yashwanth Chalamalla" userId="696db3abae221636" providerId="Windows Live" clId="Web-{BA45B320-EB2D-41EE-A00C-9FBB3C3BB827}" dt="2026-09-16T17:06:26.942" v="867" actId="20577"/>
      <pc:docMkLst>
        <pc:docMk/>
      </pc:docMkLst>
      <pc:sldChg chg="modSp">
        <pc:chgData name="Yashwanth Chalamalla" userId="696db3abae221636" providerId="Windows Live" clId="Web-{BA45B320-EB2D-41EE-A00C-9FBB3C3BB827}" dt="2026-09-16T12:43:11.320" v="366" actId="20577"/>
        <pc:sldMkLst>
          <pc:docMk/>
          <pc:sldMk cId="0" sldId="256"/>
        </pc:sldMkLst>
        <pc:spChg chg="mod">
          <ac:chgData name="Yashwanth Chalamalla" userId="696db3abae221636" providerId="Windows Live" clId="Web-{BA45B320-EB2D-41EE-A00C-9FBB3C3BB827}" dt="2026-09-16T12:43:11.320" v="366" actId="20577"/>
          <ac:spMkLst>
            <pc:docMk/>
            <pc:sldMk cId="0" sldId="256"/>
            <ac:spMk id="99" creationId="{00000000-0000-0000-0000-000000000000}"/>
          </ac:spMkLst>
        </pc:spChg>
      </pc:sldChg>
      <pc:sldChg chg="modSp">
        <pc:chgData name="Yashwanth Chalamalla" userId="696db3abae221636" providerId="Windows Live" clId="Web-{BA45B320-EB2D-41EE-A00C-9FBB3C3BB827}" dt="2026-09-16T16:49:05.571" v="862" actId="20577"/>
        <pc:sldMkLst>
          <pc:docMk/>
          <pc:sldMk cId="0" sldId="257"/>
        </pc:sldMkLst>
        <pc:spChg chg="mod">
          <ac:chgData name="Yashwanth Chalamalla" userId="696db3abae221636" providerId="Windows Live" clId="Web-{BA45B320-EB2D-41EE-A00C-9FBB3C3BB827}" dt="2026-09-16T16:49:05.571" v="862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Yashwanth Chalamalla" userId="696db3abae221636" providerId="Windows Live" clId="Web-{BA45B320-EB2D-41EE-A00C-9FBB3C3BB827}" dt="2026-09-16T16:47:27.176" v="786" actId="20577"/>
          <ac:spMkLst>
            <pc:docMk/>
            <pc:sldMk cId="0" sldId="257"/>
            <ac:spMk id="105" creationId="{00000000-0000-0000-0000-000000000000}"/>
          </ac:spMkLst>
        </pc:spChg>
      </pc:sldChg>
      <pc:sldChg chg="modSp">
        <pc:chgData name="Yashwanth Chalamalla" userId="696db3abae221636" providerId="Windows Live" clId="Web-{BA45B320-EB2D-41EE-A00C-9FBB3C3BB827}" dt="2026-09-16T12:20:38.100" v="65" actId="1076"/>
        <pc:sldMkLst>
          <pc:docMk/>
          <pc:sldMk cId="0" sldId="258"/>
        </pc:sldMkLst>
        <pc:spChg chg="mod">
          <ac:chgData name="Yashwanth Chalamalla" userId="696db3abae221636" providerId="Windows Live" clId="Web-{BA45B320-EB2D-41EE-A00C-9FBB3C3BB827}" dt="2026-09-16T12:12:44.894" v="9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Yashwanth Chalamalla" userId="696db3abae221636" providerId="Windows Live" clId="Web-{BA45B320-EB2D-41EE-A00C-9FBB3C3BB827}" dt="2026-09-16T12:20:38.100" v="65" actId="1076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 add replId">
        <pc:chgData name="Yashwanth Chalamalla" userId="696db3abae221636" providerId="Windows Live" clId="Web-{BA45B320-EB2D-41EE-A00C-9FBB3C3BB827}" dt="2026-09-16T12:19:55.864" v="62" actId="1076"/>
        <pc:sldMkLst>
          <pc:docMk/>
          <pc:sldMk cId="3034292584" sldId="260"/>
        </pc:sldMkLst>
        <pc:spChg chg="add mod">
          <ac:chgData name="Yashwanth Chalamalla" userId="696db3abae221636" providerId="Windows Live" clId="Web-{BA45B320-EB2D-41EE-A00C-9FBB3C3BB827}" dt="2026-09-16T12:19:55.864" v="62" actId="1076"/>
          <ac:spMkLst>
            <pc:docMk/>
            <pc:sldMk cId="3034292584" sldId="260"/>
            <ac:spMk id="3" creationId="{48C773C6-4923-5E8A-C4F3-0DEC30E71547}"/>
          </ac:spMkLst>
        </pc:spChg>
        <pc:spChg chg="mod">
          <ac:chgData name="Yashwanth Chalamalla" userId="696db3abae221636" providerId="Windows Live" clId="Web-{BA45B320-EB2D-41EE-A00C-9FBB3C3BB827}" dt="2026-09-16T12:16:00.918" v="31" actId="20577"/>
          <ac:spMkLst>
            <pc:docMk/>
            <pc:sldMk cId="3034292584" sldId="260"/>
            <ac:spMk id="110" creationId="{497C2EB8-B373-441B-EBA8-5960C1272968}"/>
          </ac:spMkLst>
        </pc:spChg>
        <pc:spChg chg="del mod">
          <ac:chgData name="Yashwanth Chalamalla" userId="696db3abae221636" providerId="Windows Live" clId="Web-{BA45B320-EB2D-41EE-A00C-9FBB3C3BB827}" dt="2026-09-16T12:15:51.949" v="30"/>
          <ac:spMkLst>
            <pc:docMk/>
            <pc:sldMk cId="3034292584" sldId="260"/>
            <ac:spMk id="111" creationId="{DD45A966-480B-BFFE-4EB3-702FBB739E12}"/>
          </ac:spMkLst>
        </pc:spChg>
      </pc:sldChg>
      <pc:sldChg chg="modSp add replId">
        <pc:chgData name="Yashwanth Chalamalla" userId="696db3abae221636" providerId="Windows Live" clId="Web-{BA45B320-EB2D-41EE-A00C-9FBB3C3BB827}" dt="2026-09-16T12:27:04.207" v="121" actId="14100"/>
        <pc:sldMkLst>
          <pc:docMk/>
          <pc:sldMk cId="1858259450" sldId="261"/>
        </pc:sldMkLst>
        <pc:spChg chg="mod">
          <ac:chgData name="Yashwanth Chalamalla" userId="696db3abae221636" providerId="Windows Live" clId="Web-{BA45B320-EB2D-41EE-A00C-9FBB3C3BB827}" dt="2026-09-16T12:27:04.207" v="121" actId="14100"/>
          <ac:spMkLst>
            <pc:docMk/>
            <pc:sldMk cId="1858259450" sldId="261"/>
            <ac:spMk id="3" creationId="{113B9B9B-8BDA-63AC-F2D3-E509B63DCE7F}"/>
          </ac:spMkLst>
        </pc:spChg>
        <pc:spChg chg="mod">
          <ac:chgData name="Yashwanth Chalamalla" userId="696db3abae221636" providerId="Windows Live" clId="Web-{BA45B320-EB2D-41EE-A00C-9FBB3C3BB827}" dt="2026-09-16T12:21:59.353" v="85" actId="20577"/>
          <ac:spMkLst>
            <pc:docMk/>
            <pc:sldMk cId="1858259450" sldId="261"/>
            <ac:spMk id="110" creationId="{F654C24D-524D-CCB1-7B78-09B0D268F50C}"/>
          </ac:spMkLst>
        </pc:spChg>
      </pc:sldChg>
      <pc:sldChg chg="modSp add replId">
        <pc:chgData name="Yashwanth Chalamalla" userId="696db3abae221636" providerId="Windows Live" clId="Web-{BA45B320-EB2D-41EE-A00C-9FBB3C3BB827}" dt="2026-09-16T12:26:18.705" v="111" actId="20577"/>
        <pc:sldMkLst>
          <pc:docMk/>
          <pc:sldMk cId="3184139124" sldId="262"/>
        </pc:sldMkLst>
        <pc:spChg chg="mod">
          <ac:chgData name="Yashwanth Chalamalla" userId="696db3abae221636" providerId="Windows Live" clId="Web-{BA45B320-EB2D-41EE-A00C-9FBB3C3BB827}" dt="2026-09-16T12:26:18.705" v="111" actId="20577"/>
          <ac:spMkLst>
            <pc:docMk/>
            <pc:sldMk cId="3184139124" sldId="262"/>
            <ac:spMk id="3" creationId="{BB521362-B5DC-7C13-98B8-ACE2EC752316}"/>
          </ac:spMkLst>
        </pc:spChg>
        <pc:spChg chg="mod">
          <ac:chgData name="Yashwanth Chalamalla" userId="696db3abae221636" providerId="Windows Live" clId="Web-{BA45B320-EB2D-41EE-A00C-9FBB3C3BB827}" dt="2026-09-16T12:25:54.564" v="102" actId="20577"/>
          <ac:spMkLst>
            <pc:docMk/>
            <pc:sldMk cId="3184139124" sldId="262"/>
            <ac:spMk id="110" creationId="{6502C602-B980-C520-7BCC-A4C956B52B1D}"/>
          </ac:spMkLst>
        </pc:spChg>
      </pc:sldChg>
      <pc:sldChg chg="addSp delSp modSp add replId">
        <pc:chgData name="Yashwanth Chalamalla" userId="696db3abae221636" providerId="Windows Live" clId="Web-{BA45B320-EB2D-41EE-A00C-9FBB3C3BB827}" dt="2026-09-16T12:39:07.625" v="317"/>
        <pc:sldMkLst>
          <pc:docMk/>
          <pc:sldMk cId="3192593005" sldId="263"/>
        </pc:sldMkLst>
        <pc:spChg chg="del">
          <ac:chgData name="Yashwanth Chalamalla" userId="696db3abae221636" providerId="Windows Live" clId="Web-{BA45B320-EB2D-41EE-A00C-9FBB3C3BB827}" dt="2026-09-16T12:29:04.039" v="151"/>
          <ac:spMkLst>
            <pc:docMk/>
            <pc:sldMk cId="3192593005" sldId="263"/>
            <ac:spMk id="3" creationId="{A55FE181-7F7E-B5AA-0ED9-6A79BF95DF12}"/>
          </ac:spMkLst>
        </pc:spChg>
        <pc:spChg chg="add del mod">
          <ac:chgData name="Yashwanth Chalamalla" userId="696db3abae221636" providerId="Windows Live" clId="Web-{BA45B320-EB2D-41EE-A00C-9FBB3C3BB827}" dt="2026-09-16T12:29:29.149" v="155"/>
          <ac:spMkLst>
            <pc:docMk/>
            <pc:sldMk cId="3192593005" sldId="263"/>
            <ac:spMk id="4" creationId="{A96659AD-9543-71F0-5ABF-2D82CF5D9C67}"/>
          </ac:spMkLst>
        </pc:spChg>
        <pc:spChg chg="add del mod">
          <ac:chgData name="Yashwanth Chalamalla" userId="696db3abae221636" providerId="Windows Live" clId="Web-{BA45B320-EB2D-41EE-A00C-9FBB3C3BB827}" dt="2026-09-16T12:35:55.790" v="248" actId="20577"/>
          <ac:spMkLst>
            <pc:docMk/>
            <pc:sldMk cId="3192593005" sldId="263"/>
            <ac:spMk id="7" creationId="{231BC926-4627-7F85-8C1D-5A9132E6E2B1}"/>
          </ac:spMkLst>
        </pc:spChg>
        <pc:spChg chg="add del">
          <ac:chgData name="Yashwanth Chalamalla" userId="696db3abae221636" providerId="Windows Live" clId="Web-{BA45B320-EB2D-41EE-A00C-9FBB3C3BB827}" dt="2026-09-16T12:31:34.826" v="179"/>
          <ac:spMkLst>
            <pc:docMk/>
            <pc:sldMk cId="3192593005" sldId="263"/>
            <ac:spMk id="8" creationId="{F93D28CF-9996-3094-A5C9-23748F46DD38}"/>
          </ac:spMkLst>
        </pc:spChg>
        <pc:spChg chg="add del mod">
          <ac:chgData name="Yashwanth Chalamalla" userId="696db3abae221636" providerId="Windows Live" clId="Web-{BA45B320-EB2D-41EE-A00C-9FBB3C3BB827}" dt="2026-09-16T12:34:23.771" v="237"/>
          <ac:spMkLst>
            <pc:docMk/>
            <pc:sldMk cId="3192593005" sldId="263"/>
            <ac:spMk id="9" creationId="{999C00D9-8B4C-EB65-94DC-BA25C368E33D}"/>
          </ac:spMkLst>
        </pc:spChg>
        <pc:spChg chg="add del mod">
          <ac:chgData name="Yashwanth Chalamalla" userId="696db3abae221636" providerId="Windows Live" clId="Web-{BA45B320-EB2D-41EE-A00C-9FBB3C3BB827}" dt="2026-09-16T12:34:14.536" v="220"/>
          <ac:spMkLst>
            <pc:docMk/>
            <pc:sldMk cId="3192593005" sldId="263"/>
            <ac:spMk id="10" creationId="{8D0C11FE-7293-D3BE-1E90-7F2C9E4EB5EB}"/>
          </ac:spMkLst>
        </pc:spChg>
        <pc:spChg chg="add del mod">
          <ac:chgData name="Yashwanth Chalamalla" userId="696db3abae221636" providerId="Windows Live" clId="Web-{BA45B320-EB2D-41EE-A00C-9FBB3C3BB827}" dt="2026-09-16T12:35:11.554" v="241"/>
          <ac:spMkLst>
            <pc:docMk/>
            <pc:sldMk cId="3192593005" sldId="263"/>
            <ac:spMk id="11" creationId="{012E05DF-0B18-3F94-D377-026BAFEF52F1}"/>
          </ac:spMkLst>
        </pc:spChg>
        <pc:spChg chg="add mod">
          <ac:chgData name="Yashwanth Chalamalla" userId="696db3abae221636" providerId="Windows Live" clId="Web-{BA45B320-EB2D-41EE-A00C-9FBB3C3BB827}" dt="2026-09-16T12:39:01.140" v="315" actId="20577"/>
          <ac:spMkLst>
            <pc:docMk/>
            <pc:sldMk cId="3192593005" sldId="263"/>
            <ac:spMk id="12" creationId="{850DD6DC-D69F-9614-FB02-8EC884AB2F19}"/>
          </ac:spMkLst>
        </pc:spChg>
        <pc:spChg chg="mod">
          <ac:chgData name="Yashwanth Chalamalla" userId="696db3abae221636" providerId="Windows Live" clId="Web-{BA45B320-EB2D-41EE-A00C-9FBB3C3BB827}" dt="2026-09-16T12:28:21.944" v="150" actId="20577"/>
          <ac:spMkLst>
            <pc:docMk/>
            <pc:sldMk cId="3192593005" sldId="263"/>
            <ac:spMk id="110" creationId="{63E64B4E-75C1-E119-A8AF-F12A37405A98}"/>
          </ac:spMkLst>
        </pc:spChg>
        <pc:graphicFrameChg chg="add mod modGraphic">
          <ac:chgData name="Yashwanth Chalamalla" userId="696db3abae221636" providerId="Windows Live" clId="Web-{BA45B320-EB2D-41EE-A00C-9FBB3C3BB827}" dt="2026-09-16T12:38:56.921" v="306"/>
          <ac:graphicFrameMkLst>
            <pc:docMk/>
            <pc:sldMk cId="3192593005" sldId="263"/>
            <ac:graphicFrameMk id="6" creationId="{DFD239F1-F6DF-1184-DC12-48D256F92CF1}"/>
          </ac:graphicFrameMkLst>
        </pc:graphicFrameChg>
        <pc:graphicFrameChg chg="add del mod modGraphic">
          <ac:chgData name="Yashwanth Chalamalla" userId="696db3abae221636" providerId="Windows Live" clId="Web-{BA45B320-EB2D-41EE-A00C-9FBB3C3BB827}" dt="2026-09-16T12:39:07.625" v="317"/>
          <ac:graphicFrameMkLst>
            <pc:docMk/>
            <pc:sldMk cId="3192593005" sldId="263"/>
            <ac:graphicFrameMk id="13" creationId="{E74331A1-29E5-DF89-A5C1-061F3B1CDC5B}"/>
          </ac:graphicFrameMkLst>
        </pc:graphicFrameChg>
      </pc:sldChg>
      <pc:sldChg chg="addSp delSp modSp add ord replId">
        <pc:chgData name="Yashwanth Chalamalla" userId="696db3abae221636" providerId="Windows Live" clId="Web-{BA45B320-EB2D-41EE-A00C-9FBB3C3BB827}" dt="2026-09-16T12:42:44.054" v="364" actId="20577"/>
        <pc:sldMkLst>
          <pc:docMk/>
          <pc:sldMk cId="1969561741" sldId="264"/>
        </pc:sldMkLst>
        <pc:spChg chg="del">
          <ac:chgData name="Yashwanth Chalamalla" userId="696db3abae221636" providerId="Windows Live" clId="Web-{BA45B320-EB2D-41EE-A00C-9FBB3C3BB827}" dt="2026-09-16T12:40:21.408" v="338"/>
          <ac:spMkLst>
            <pc:docMk/>
            <pc:sldMk cId="1969561741" sldId="264"/>
            <ac:spMk id="3" creationId="{1B029340-ABEC-AD67-A8EB-5D783DF3F0AF}"/>
          </ac:spMkLst>
        </pc:spChg>
        <pc:spChg chg="add del mod">
          <ac:chgData name="Yashwanth Chalamalla" userId="696db3abae221636" providerId="Windows Live" clId="Web-{BA45B320-EB2D-41EE-A00C-9FBB3C3BB827}" dt="2026-09-16T12:41:21.848" v="340"/>
          <ac:spMkLst>
            <pc:docMk/>
            <pc:sldMk cId="1969561741" sldId="264"/>
            <ac:spMk id="4" creationId="{45F1ED7D-24A9-7785-BD33-81774D2482E3}"/>
          </ac:spMkLst>
        </pc:spChg>
        <pc:spChg chg="add mod">
          <ac:chgData name="Yashwanth Chalamalla" userId="696db3abae221636" providerId="Windows Live" clId="Web-{BA45B320-EB2D-41EE-A00C-9FBB3C3BB827}" dt="2026-09-16T12:42:44.054" v="364" actId="20577"/>
          <ac:spMkLst>
            <pc:docMk/>
            <pc:sldMk cId="1969561741" sldId="264"/>
            <ac:spMk id="6" creationId="{5325E2C6-9301-44DD-8BC4-9D0D809E4384}"/>
          </ac:spMkLst>
        </pc:spChg>
        <pc:spChg chg="mod">
          <ac:chgData name="Yashwanth Chalamalla" userId="696db3abae221636" providerId="Windows Live" clId="Web-{BA45B320-EB2D-41EE-A00C-9FBB3C3BB827}" dt="2026-09-16T12:40:07.408" v="337" actId="20577"/>
          <ac:spMkLst>
            <pc:docMk/>
            <pc:sldMk cId="1969561741" sldId="264"/>
            <ac:spMk id="110" creationId="{BA5ABC43-2AD9-0CF8-25CB-58F3B28AF023}"/>
          </ac:spMkLst>
        </pc:spChg>
        <pc:picChg chg="add mod">
          <ac:chgData name="Yashwanth Chalamalla" userId="696db3abae221636" providerId="Windows Live" clId="Web-{BA45B320-EB2D-41EE-A00C-9FBB3C3BB827}" dt="2026-09-16T12:41:42.677" v="343" actId="1076"/>
          <ac:picMkLst>
            <pc:docMk/>
            <pc:sldMk cId="1969561741" sldId="264"/>
            <ac:picMk id="5" creationId="{E9153CEB-AFA7-5C15-B791-02FCC0EBDD2C}"/>
          </ac:picMkLst>
        </pc:picChg>
      </pc:sldChg>
      <pc:sldChg chg="addSp delSp modSp add ord replId">
        <pc:chgData name="Yashwanth Chalamalla" userId="696db3abae221636" providerId="Windows Live" clId="Web-{BA45B320-EB2D-41EE-A00C-9FBB3C3BB827}" dt="2026-09-16T12:55:56.599" v="421" actId="1076"/>
        <pc:sldMkLst>
          <pc:docMk/>
          <pc:sldMk cId="2086783430" sldId="265"/>
        </pc:sldMkLst>
        <pc:spChg chg="del">
          <ac:chgData name="Yashwanth Chalamalla" userId="696db3abae221636" providerId="Windows Live" clId="Web-{BA45B320-EB2D-41EE-A00C-9FBB3C3BB827}" dt="2026-09-16T12:51:09.823" v="380"/>
          <ac:spMkLst>
            <pc:docMk/>
            <pc:sldMk cId="2086783430" sldId="265"/>
            <ac:spMk id="3" creationId="{3543D296-9668-DDF7-411F-7FA08F5F0C8C}"/>
          </ac:spMkLst>
        </pc:spChg>
        <pc:spChg chg="add del mod">
          <ac:chgData name="Yashwanth Chalamalla" userId="696db3abae221636" providerId="Windows Live" clId="Web-{BA45B320-EB2D-41EE-A00C-9FBB3C3BB827}" dt="2026-09-16T12:51:15.667" v="381"/>
          <ac:spMkLst>
            <pc:docMk/>
            <pc:sldMk cId="2086783430" sldId="265"/>
            <ac:spMk id="4" creationId="{8ED48F09-C8C0-19E0-58E4-DFA568DDD9DD}"/>
          </ac:spMkLst>
        </pc:spChg>
        <pc:spChg chg="add mod">
          <ac:chgData name="Yashwanth Chalamalla" userId="696db3abae221636" providerId="Windows Live" clId="Web-{BA45B320-EB2D-41EE-A00C-9FBB3C3BB827}" dt="2026-09-16T12:55:48.333" v="420" actId="1076"/>
          <ac:spMkLst>
            <pc:docMk/>
            <pc:sldMk cId="2086783430" sldId="265"/>
            <ac:spMk id="5" creationId="{F7EE1BF0-5873-F545-6917-AA896D8A43D8}"/>
          </ac:spMkLst>
        </pc:spChg>
        <pc:spChg chg="mod">
          <ac:chgData name="Yashwanth Chalamalla" userId="696db3abae221636" providerId="Windows Live" clId="Web-{BA45B320-EB2D-41EE-A00C-9FBB3C3BB827}" dt="2026-09-16T12:55:56.599" v="421" actId="1076"/>
          <ac:spMkLst>
            <pc:docMk/>
            <pc:sldMk cId="2086783430" sldId="265"/>
            <ac:spMk id="110" creationId="{0C39CEE0-F50E-986C-BD2E-305F6619FF03}"/>
          </ac:spMkLst>
        </pc:spChg>
      </pc:sldChg>
      <pc:sldChg chg="addSp delSp modSp add replId">
        <pc:chgData name="Yashwanth Chalamalla" userId="696db3abae221636" providerId="Windows Live" clId="Web-{BA45B320-EB2D-41EE-A00C-9FBB3C3BB827}" dt="2026-09-16T16:58:10.168" v="863" actId="20577"/>
        <pc:sldMkLst>
          <pc:docMk/>
          <pc:sldMk cId="3441712554" sldId="266"/>
        </pc:sldMkLst>
        <pc:spChg chg="add mod">
          <ac:chgData name="Yashwanth Chalamalla" userId="696db3abae221636" providerId="Windows Live" clId="Web-{BA45B320-EB2D-41EE-A00C-9FBB3C3BB827}" dt="2026-09-16T16:58:10.168" v="863" actId="20577"/>
          <ac:spMkLst>
            <pc:docMk/>
            <pc:sldMk cId="3441712554" sldId="266"/>
            <ac:spMk id="2" creationId="{101235E9-2C09-05FB-E529-00A664B8FE24}"/>
          </ac:spMkLst>
        </pc:spChg>
        <pc:spChg chg="del mod">
          <ac:chgData name="Yashwanth Chalamalla" userId="696db3abae221636" providerId="Windows Live" clId="Web-{BA45B320-EB2D-41EE-A00C-9FBB3C3BB827}" dt="2026-09-16T13:00:36.186" v="449"/>
          <ac:spMkLst>
            <pc:docMk/>
            <pc:sldMk cId="3441712554" sldId="266"/>
            <ac:spMk id="5" creationId="{C2659772-9DCE-16C5-377E-528A3B4C9480}"/>
          </ac:spMkLst>
        </pc:spChg>
        <pc:spChg chg="mod">
          <ac:chgData name="Yashwanth Chalamalla" userId="696db3abae221636" providerId="Windows Live" clId="Web-{BA45B320-EB2D-41EE-A00C-9FBB3C3BB827}" dt="2026-09-16T13:00:49.733" v="451" actId="20577"/>
          <ac:spMkLst>
            <pc:docMk/>
            <pc:sldMk cId="3441712554" sldId="266"/>
            <ac:spMk id="110" creationId="{5443E6E8-818F-5099-74BD-7697FC35E9D9}"/>
          </ac:spMkLst>
        </pc:spChg>
      </pc:sldChg>
      <pc:sldChg chg="addSp delSp modSp add replId">
        <pc:chgData name="Yashwanth Chalamalla" userId="696db3abae221636" providerId="Windows Live" clId="Web-{BA45B320-EB2D-41EE-A00C-9FBB3C3BB827}" dt="2026-09-16T13:05:23.415" v="477"/>
        <pc:sldMkLst>
          <pc:docMk/>
          <pc:sldMk cId="1638989389" sldId="267"/>
        </pc:sldMkLst>
        <pc:spChg chg="del">
          <ac:chgData name="Yashwanth Chalamalla" userId="696db3abae221636" providerId="Windows Live" clId="Web-{BA45B320-EB2D-41EE-A00C-9FBB3C3BB827}" dt="2026-09-16T13:04:58.898" v="472"/>
          <ac:spMkLst>
            <pc:docMk/>
            <pc:sldMk cId="1638989389" sldId="267"/>
            <ac:spMk id="2" creationId="{9519545C-4785-C227-5571-B9E4C8ECFD43}"/>
          </ac:spMkLst>
        </pc:spChg>
        <pc:spChg chg="add del">
          <ac:chgData name="Yashwanth Chalamalla" userId="696db3abae221636" providerId="Windows Live" clId="Web-{BA45B320-EB2D-41EE-A00C-9FBB3C3BB827}" dt="2026-09-16T13:05:04.555" v="474"/>
          <ac:spMkLst>
            <pc:docMk/>
            <pc:sldMk cId="1638989389" sldId="267"/>
            <ac:spMk id="3" creationId="{9519545C-4785-C227-5571-B9E4C8ECFD43}"/>
          </ac:spMkLst>
        </pc:spChg>
        <pc:graphicFrameChg chg="add mod modGraphic">
          <ac:chgData name="Yashwanth Chalamalla" userId="696db3abae221636" providerId="Windows Live" clId="Web-{BA45B320-EB2D-41EE-A00C-9FBB3C3BB827}" dt="2026-09-16T13:05:23.415" v="477"/>
          <ac:graphicFrameMkLst>
            <pc:docMk/>
            <pc:sldMk cId="1638989389" sldId="267"/>
            <ac:graphicFrameMk id="5" creationId="{C5137D6C-BBE2-49CB-2514-9C5299BDD7B1}"/>
          </ac:graphicFrameMkLst>
        </pc:graphicFrameChg>
      </pc:sldChg>
      <pc:sldChg chg="modSp add ord replId">
        <pc:chgData name="Yashwanth Chalamalla" userId="696db3abae221636" providerId="Windows Live" clId="Web-{BA45B320-EB2D-41EE-A00C-9FBB3C3BB827}" dt="2026-09-16T17:03:08.716" v="864" actId="20577"/>
        <pc:sldMkLst>
          <pc:docMk/>
          <pc:sldMk cId="2349207907" sldId="268"/>
        </pc:sldMkLst>
        <pc:spChg chg="mod">
          <ac:chgData name="Yashwanth Chalamalla" userId="696db3abae221636" providerId="Windows Live" clId="Web-{BA45B320-EB2D-41EE-A00C-9FBB3C3BB827}" dt="2026-09-16T17:03:08.716" v="864" actId="20577"/>
          <ac:spMkLst>
            <pc:docMk/>
            <pc:sldMk cId="2349207907" sldId="268"/>
            <ac:spMk id="2" creationId="{D058541F-FFFE-3928-4C6D-14C43C8D62F6}"/>
          </ac:spMkLst>
        </pc:spChg>
        <pc:spChg chg="mod">
          <ac:chgData name="Yashwanth Chalamalla" userId="696db3abae221636" providerId="Windows Live" clId="Web-{BA45B320-EB2D-41EE-A00C-9FBB3C3BB827}" dt="2026-09-16T13:06:32.855" v="485" actId="20577"/>
          <ac:spMkLst>
            <pc:docMk/>
            <pc:sldMk cId="2349207907" sldId="268"/>
            <ac:spMk id="110" creationId="{893A70B7-7A4F-C435-0DC5-0ED049A87215}"/>
          </ac:spMkLst>
        </pc:spChg>
      </pc:sldChg>
      <pc:sldChg chg="modSp add ord replId">
        <pc:chgData name="Yashwanth Chalamalla" userId="696db3abae221636" providerId="Windows Live" clId="Web-{BA45B320-EB2D-41EE-A00C-9FBB3C3BB827}" dt="2026-09-16T16:20:31.210" v="639" actId="20577"/>
        <pc:sldMkLst>
          <pc:docMk/>
          <pc:sldMk cId="3883032860" sldId="269"/>
        </pc:sldMkLst>
        <pc:spChg chg="mod">
          <ac:chgData name="Yashwanth Chalamalla" userId="696db3abae221636" providerId="Windows Live" clId="Web-{BA45B320-EB2D-41EE-A00C-9FBB3C3BB827}" dt="2026-09-16T16:20:31.210" v="639" actId="20577"/>
          <ac:spMkLst>
            <pc:docMk/>
            <pc:sldMk cId="3883032860" sldId="269"/>
            <ac:spMk id="2" creationId="{9F7B5800-8F67-C07C-51F9-BD2FCA1C2410}"/>
          </ac:spMkLst>
        </pc:spChg>
        <pc:spChg chg="mod">
          <ac:chgData name="Yashwanth Chalamalla" userId="696db3abae221636" providerId="Windows Live" clId="Web-{BA45B320-EB2D-41EE-A00C-9FBB3C3BB827}" dt="2026-09-16T16:18:42.003" v="601" actId="20577"/>
          <ac:spMkLst>
            <pc:docMk/>
            <pc:sldMk cId="3883032860" sldId="269"/>
            <ac:spMk id="110" creationId="{DCE1570F-E315-C325-497E-847A93906034}"/>
          </ac:spMkLst>
        </pc:spChg>
      </pc:sldChg>
      <pc:sldChg chg="new del">
        <pc:chgData name="Yashwanth Chalamalla" userId="696db3abae221636" providerId="Windows Live" clId="Web-{BA45B320-EB2D-41EE-A00C-9FBB3C3BB827}" dt="2026-09-16T16:46:27.221" v="743"/>
        <pc:sldMkLst>
          <pc:docMk/>
          <pc:sldMk cId="2612689092" sldId="270"/>
        </pc:sldMkLst>
      </pc:sldChg>
      <pc:sldChg chg="modSp add replId">
        <pc:chgData name="Yashwanth Chalamalla" userId="696db3abae221636" providerId="Windows Live" clId="Web-{BA45B320-EB2D-41EE-A00C-9FBB3C3BB827}" dt="2026-09-16T17:06:26.942" v="867" actId="20577"/>
        <pc:sldMkLst>
          <pc:docMk/>
          <pc:sldMk cId="698553410" sldId="271"/>
        </pc:sldMkLst>
        <pc:spChg chg="mod">
          <ac:chgData name="Yashwanth Chalamalla" userId="696db3abae221636" providerId="Windows Live" clId="Web-{BA45B320-EB2D-41EE-A00C-9FBB3C3BB827}" dt="2026-09-16T17:06:26.942" v="867" actId="20577"/>
          <ac:spMkLst>
            <pc:docMk/>
            <pc:sldMk cId="698553410" sldId="271"/>
            <ac:spMk id="2" creationId="{84291F53-D225-BC65-9D15-6260BDF192B4}"/>
          </ac:spMkLst>
        </pc:spChg>
        <pc:spChg chg="mod">
          <ac:chgData name="Yashwanth Chalamalla" userId="696db3abae221636" providerId="Windows Live" clId="Web-{BA45B320-EB2D-41EE-A00C-9FBB3C3BB827}" dt="2026-09-16T16:02:33.828" v="521" actId="20577"/>
          <ac:spMkLst>
            <pc:docMk/>
            <pc:sldMk cId="698553410" sldId="271"/>
            <ac:spMk id="110" creationId="{7139C7BE-8693-7874-79B0-15DF5761FF97}"/>
          </ac:spMkLst>
        </pc:spChg>
      </pc:sldChg>
      <pc:sldChg chg="modSp add replId">
        <pc:chgData name="Yashwanth Chalamalla" userId="696db3abae221636" providerId="Windows Live" clId="Web-{BA45B320-EB2D-41EE-A00C-9FBB3C3BB827}" dt="2026-09-16T16:24:41.203" v="661" actId="20577"/>
        <pc:sldMkLst>
          <pc:docMk/>
          <pc:sldMk cId="669892099" sldId="272"/>
        </pc:sldMkLst>
        <pc:spChg chg="mod">
          <ac:chgData name="Yashwanth Chalamalla" userId="696db3abae221636" providerId="Windows Live" clId="Web-{BA45B320-EB2D-41EE-A00C-9FBB3C3BB827}" dt="2026-09-16T16:24:41.203" v="661" actId="20577"/>
          <ac:spMkLst>
            <pc:docMk/>
            <pc:sldMk cId="669892099" sldId="272"/>
            <ac:spMk id="2" creationId="{94C18845-2A0A-F367-170D-8E3BFA241D86}"/>
          </ac:spMkLst>
        </pc:spChg>
        <pc:spChg chg="mod">
          <ac:chgData name="Yashwanth Chalamalla" userId="696db3abae221636" providerId="Windows Live" clId="Web-{BA45B320-EB2D-41EE-A00C-9FBB3C3BB827}" dt="2026-09-16T16:21:12.102" v="643" actId="20577"/>
          <ac:spMkLst>
            <pc:docMk/>
            <pc:sldMk cId="669892099" sldId="272"/>
            <ac:spMk id="110" creationId="{FD30AE60-5F44-6F2B-51FE-90FAA0818270}"/>
          </ac:spMkLst>
        </pc:spChg>
      </pc:sldChg>
      <pc:sldChg chg="modSp add replId">
        <pc:chgData name="Yashwanth Chalamalla" userId="696db3abae221636" providerId="Windows Live" clId="Web-{BA45B320-EB2D-41EE-A00C-9FBB3C3BB827}" dt="2026-09-16T16:35:04.835" v="680" actId="1076"/>
        <pc:sldMkLst>
          <pc:docMk/>
          <pc:sldMk cId="1882740589" sldId="273"/>
        </pc:sldMkLst>
        <pc:spChg chg="mod">
          <ac:chgData name="Yashwanth Chalamalla" userId="696db3abae221636" providerId="Windows Live" clId="Web-{BA45B320-EB2D-41EE-A00C-9FBB3C3BB827}" dt="2026-09-16T16:35:04.835" v="680" actId="1076"/>
          <ac:spMkLst>
            <pc:docMk/>
            <pc:sldMk cId="1882740589" sldId="273"/>
            <ac:spMk id="2" creationId="{E6E29749-71D5-AE57-4CA6-73A58113F975}"/>
          </ac:spMkLst>
        </pc:spChg>
        <pc:spChg chg="mod">
          <ac:chgData name="Yashwanth Chalamalla" userId="696db3abae221636" providerId="Windows Live" clId="Web-{BA45B320-EB2D-41EE-A00C-9FBB3C3BB827}" dt="2026-09-16T16:34:43.647" v="673" actId="20577"/>
          <ac:spMkLst>
            <pc:docMk/>
            <pc:sldMk cId="1882740589" sldId="273"/>
            <ac:spMk id="110" creationId="{AE573B7A-6B0F-0042-D128-C8433C8918A1}"/>
          </ac:spMkLst>
        </pc:spChg>
      </pc:sldChg>
      <pc:sldChg chg="modSp add replId">
        <pc:chgData name="Yashwanth Chalamalla" userId="696db3abae221636" providerId="Windows Live" clId="Web-{BA45B320-EB2D-41EE-A00C-9FBB3C3BB827}" dt="2026-09-16T16:43:15.368" v="709" actId="1076"/>
        <pc:sldMkLst>
          <pc:docMk/>
          <pc:sldMk cId="2763578144" sldId="274"/>
        </pc:sldMkLst>
        <pc:spChg chg="mod">
          <ac:chgData name="Yashwanth Chalamalla" userId="696db3abae221636" providerId="Windows Live" clId="Web-{BA45B320-EB2D-41EE-A00C-9FBB3C3BB827}" dt="2026-09-16T16:43:15.368" v="709" actId="1076"/>
          <ac:spMkLst>
            <pc:docMk/>
            <pc:sldMk cId="2763578144" sldId="274"/>
            <ac:spMk id="2" creationId="{4BDD70C5-D6DE-2773-51EB-8FCC47BE6F6C}"/>
          </ac:spMkLst>
        </pc:spChg>
        <pc:spChg chg="mod">
          <ac:chgData name="Yashwanth Chalamalla" userId="696db3abae221636" providerId="Windows Live" clId="Web-{BA45B320-EB2D-41EE-A00C-9FBB3C3BB827}" dt="2026-09-16T16:42:27.616" v="688" actId="20577"/>
          <ac:spMkLst>
            <pc:docMk/>
            <pc:sldMk cId="2763578144" sldId="274"/>
            <ac:spMk id="110" creationId="{CCD5948D-C78C-32F9-AD7E-5970650BEABD}"/>
          </ac:spMkLst>
        </pc:spChg>
      </pc:sldChg>
      <pc:sldChg chg="modSp add replId">
        <pc:chgData name="Yashwanth Chalamalla" userId="696db3abae221636" providerId="Windows Live" clId="Web-{BA45B320-EB2D-41EE-A00C-9FBB3C3BB827}" dt="2026-09-16T16:45:54.202" v="741" actId="20577"/>
        <pc:sldMkLst>
          <pc:docMk/>
          <pc:sldMk cId="2335325334" sldId="275"/>
        </pc:sldMkLst>
        <pc:spChg chg="mod">
          <ac:chgData name="Yashwanth Chalamalla" userId="696db3abae221636" providerId="Windows Live" clId="Web-{BA45B320-EB2D-41EE-A00C-9FBB3C3BB827}" dt="2026-09-16T16:45:54.202" v="741" actId="20577"/>
          <ac:spMkLst>
            <pc:docMk/>
            <pc:sldMk cId="2335325334" sldId="275"/>
            <ac:spMk id="2" creationId="{7EA68A05-20E4-0975-70FE-E3E74A3FD445}"/>
          </ac:spMkLst>
        </pc:spChg>
        <pc:spChg chg="mod">
          <ac:chgData name="Yashwanth Chalamalla" userId="696db3abae221636" providerId="Windows Live" clId="Web-{BA45B320-EB2D-41EE-A00C-9FBB3C3BB827}" dt="2026-09-16T16:44:11.573" v="713" actId="20577"/>
          <ac:spMkLst>
            <pc:docMk/>
            <pc:sldMk cId="2335325334" sldId="275"/>
            <ac:spMk id="110" creationId="{82AA6720-E95E-D31D-726A-CB0DFB3F6E98}"/>
          </ac:spMkLst>
        </pc:spChg>
      </pc:sldChg>
      <pc:sldChg chg="modSp add replId">
        <pc:chgData name="Yashwanth Chalamalla" userId="696db3abae221636" providerId="Windows Live" clId="Web-{BA45B320-EB2D-41EE-A00C-9FBB3C3BB827}" dt="2026-09-16T16:47:10.957" v="784" actId="20577"/>
        <pc:sldMkLst>
          <pc:docMk/>
          <pc:sldMk cId="2889228479" sldId="276"/>
        </pc:sldMkLst>
        <pc:spChg chg="mod">
          <ac:chgData name="Yashwanth Chalamalla" userId="696db3abae221636" providerId="Windows Live" clId="Web-{BA45B320-EB2D-41EE-A00C-9FBB3C3BB827}" dt="2026-09-16T16:47:10.957" v="784" actId="20577"/>
          <ac:spMkLst>
            <pc:docMk/>
            <pc:sldMk cId="2889228479" sldId="276"/>
            <ac:spMk id="2" creationId="{665C16E2-927B-A30E-0BE5-A9BAA74B1C5E}"/>
          </ac:spMkLst>
        </pc:spChg>
        <pc:spChg chg="mod">
          <ac:chgData name="Yashwanth Chalamalla" userId="696db3abae221636" providerId="Windows Live" clId="Web-{BA45B320-EB2D-41EE-A00C-9FBB3C3BB827}" dt="2026-09-16T16:46:39.612" v="748" actId="20577"/>
          <ac:spMkLst>
            <pc:docMk/>
            <pc:sldMk cId="2889228479" sldId="276"/>
            <ac:spMk id="110" creationId="{2635EAA1-A870-7792-C095-50DFC4B6D40D}"/>
          </ac:spMkLst>
        </pc:spChg>
      </pc:sldChg>
    </pc:docChg>
  </pc:docChgLst>
  <pc:docChgLst>
    <pc:chgData name="Yashwanth Chalamalla" userId="696db3abae221636" providerId="Windows Live" clId="Web-{00000000-0000-0000-0000-000000000000}"/>
    <pc:docChg chg="addSld delSld modSld">
      <pc:chgData name="Yashwanth Chalamalla" userId="696db3abae221636" providerId="Windows Live" clId="Web-{00000000-0000-0000-0000-000000000000}" dt="2026-09-17T05:40:47.490" v="252" actId="1076"/>
      <pc:docMkLst>
        <pc:docMk/>
      </pc:docMkLst>
      <pc:sldChg chg="modSp">
        <pc:chgData name="Yashwanth Chalamalla" userId="696db3abae221636" providerId="Windows Live" clId="Web-{00000000-0000-0000-0000-000000000000}" dt="2026-09-17T05:28:21.446" v="92" actId="1076"/>
        <pc:sldMkLst>
          <pc:docMk/>
          <pc:sldMk cId="3441712554" sldId="266"/>
        </pc:sldMkLst>
        <pc:spChg chg="mod">
          <ac:chgData name="Yashwanth Chalamalla" userId="696db3abae221636" providerId="Windows Live" clId="Web-{00000000-0000-0000-0000-000000000000}" dt="2026-09-17T05:28:21.446" v="92" actId="1076"/>
          <ac:spMkLst>
            <pc:docMk/>
            <pc:sldMk cId="3441712554" sldId="266"/>
            <ac:spMk id="2" creationId="{101235E9-2C09-05FB-E529-00A664B8FE24}"/>
          </ac:spMkLst>
        </pc:spChg>
      </pc:sldChg>
      <pc:sldChg chg="del">
        <pc:chgData name="Yashwanth Chalamalla" userId="696db3abae221636" providerId="Windows Live" clId="Web-{00000000-0000-0000-0000-000000000000}" dt="2026-09-17T05:28:27.931" v="93"/>
        <pc:sldMkLst>
          <pc:docMk/>
          <pc:sldMk cId="1638989389" sldId="267"/>
        </pc:sldMkLst>
      </pc:sldChg>
      <pc:sldChg chg="modSp">
        <pc:chgData name="Yashwanth Chalamalla" userId="696db3abae221636" providerId="Windows Live" clId="Web-{00000000-0000-0000-0000-000000000000}" dt="2026-09-17T05:05:44.207" v="20" actId="1076"/>
        <pc:sldMkLst>
          <pc:docMk/>
          <pc:sldMk cId="2349207907" sldId="268"/>
        </pc:sldMkLst>
        <pc:spChg chg="mod">
          <ac:chgData name="Yashwanth Chalamalla" userId="696db3abae221636" providerId="Windows Live" clId="Web-{00000000-0000-0000-0000-000000000000}" dt="2026-09-17T05:05:44.207" v="20" actId="1076"/>
          <ac:spMkLst>
            <pc:docMk/>
            <pc:sldMk cId="2349207907" sldId="268"/>
            <ac:spMk id="2" creationId="{D058541F-FFFE-3928-4C6D-14C43C8D62F6}"/>
          </ac:spMkLst>
        </pc:spChg>
      </pc:sldChg>
      <pc:sldChg chg="modSp">
        <pc:chgData name="Yashwanth Chalamalla" userId="696db3abae221636" providerId="Windows Live" clId="Web-{00000000-0000-0000-0000-000000000000}" dt="2026-09-17T05:19:01.769" v="55" actId="20577"/>
        <pc:sldMkLst>
          <pc:docMk/>
          <pc:sldMk cId="3883032860" sldId="269"/>
        </pc:sldMkLst>
        <pc:spChg chg="mod">
          <ac:chgData name="Yashwanth Chalamalla" userId="696db3abae221636" providerId="Windows Live" clId="Web-{00000000-0000-0000-0000-000000000000}" dt="2026-09-17T05:19:01.769" v="55" actId="20577"/>
          <ac:spMkLst>
            <pc:docMk/>
            <pc:sldMk cId="3883032860" sldId="269"/>
            <ac:spMk id="2" creationId="{9F7B5800-8F67-C07C-51F9-BD2FCA1C2410}"/>
          </ac:spMkLst>
        </pc:spChg>
      </pc:sldChg>
      <pc:sldChg chg="modSp">
        <pc:chgData name="Yashwanth Chalamalla" userId="696db3abae221636" providerId="Windows Live" clId="Web-{00000000-0000-0000-0000-000000000000}" dt="2026-09-17T05:10:04.936" v="36" actId="20577"/>
        <pc:sldMkLst>
          <pc:docMk/>
          <pc:sldMk cId="698553410" sldId="271"/>
        </pc:sldMkLst>
        <pc:spChg chg="mod">
          <ac:chgData name="Yashwanth Chalamalla" userId="696db3abae221636" providerId="Windows Live" clId="Web-{00000000-0000-0000-0000-000000000000}" dt="2026-09-17T05:10:04.936" v="36" actId="20577"/>
          <ac:spMkLst>
            <pc:docMk/>
            <pc:sldMk cId="698553410" sldId="271"/>
            <ac:spMk id="2" creationId="{84291F53-D225-BC65-9D15-6260BDF192B4}"/>
          </ac:spMkLst>
        </pc:spChg>
      </pc:sldChg>
      <pc:sldChg chg="modSp">
        <pc:chgData name="Yashwanth Chalamalla" userId="696db3abae221636" providerId="Windows Live" clId="Web-{00000000-0000-0000-0000-000000000000}" dt="2026-09-17T05:27:08.943" v="71" actId="20577"/>
        <pc:sldMkLst>
          <pc:docMk/>
          <pc:sldMk cId="669892099" sldId="272"/>
        </pc:sldMkLst>
        <pc:spChg chg="mod">
          <ac:chgData name="Yashwanth Chalamalla" userId="696db3abae221636" providerId="Windows Live" clId="Web-{00000000-0000-0000-0000-000000000000}" dt="2026-09-17T05:27:08.943" v="71" actId="20577"/>
          <ac:spMkLst>
            <pc:docMk/>
            <pc:sldMk cId="669892099" sldId="272"/>
            <ac:spMk id="2" creationId="{94C18845-2A0A-F367-170D-8E3BFA241D86}"/>
          </ac:spMkLst>
        </pc:spChg>
      </pc:sldChg>
      <pc:sldChg chg="modSp">
        <pc:chgData name="Yashwanth Chalamalla" userId="696db3abae221636" providerId="Windows Live" clId="Web-{00000000-0000-0000-0000-000000000000}" dt="2026-09-17T05:35:28.961" v="185" actId="20577"/>
        <pc:sldMkLst>
          <pc:docMk/>
          <pc:sldMk cId="1882740589" sldId="273"/>
        </pc:sldMkLst>
        <pc:spChg chg="mod">
          <ac:chgData name="Yashwanth Chalamalla" userId="696db3abae221636" providerId="Windows Live" clId="Web-{00000000-0000-0000-0000-000000000000}" dt="2026-09-17T05:35:28.961" v="185" actId="20577"/>
          <ac:spMkLst>
            <pc:docMk/>
            <pc:sldMk cId="1882740589" sldId="273"/>
            <ac:spMk id="2" creationId="{E6E29749-71D5-AE57-4CA6-73A58113F975}"/>
          </ac:spMkLst>
        </pc:spChg>
        <pc:spChg chg="mod">
          <ac:chgData name="Yashwanth Chalamalla" userId="696db3abae221636" providerId="Windows Live" clId="Web-{00000000-0000-0000-0000-000000000000}" dt="2026-09-17T05:33:18.457" v="139" actId="1076"/>
          <ac:spMkLst>
            <pc:docMk/>
            <pc:sldMk cId="1882740589" sldId="273"/>
            <ac:spMk id="110" creationId="{AE573B7A-6B0F-0042-D128-C8433C8918A1}"/>
          </ac:spMkLst>
        </pc:spChg>
      </pc:sldChg>
      <pc:sldChg chg="modSp">
        <pc:chgData name="Yashwanth Chalamalla" userId="696db3abae221636" providerId="Windows Live" clId="Web-{00000000-0000-0000-0000-000000000000}" dt="2026-09-17T05:39:32.347" v="238" actId="20577"/>
        <pc:sldMkLst>
          <pc:docMk/>
          <pc:sldMk cId="2763578144" sldId="274"/>
        </pc:sldMkLst>
        <pc:spChg chg="mod">
          <ac:chgData name="Yashwanth Chalamalla" userId="696db3abae221636" providerId="Windows Live" clId="Web-{00000000-0000-0000-0000-000000000000}" dt="2026-09-17T05:39:32.347" v="238" actId="20577"/>
          <ac:spMkLst>
            <pc:docMk/>
            <pc:sldMk cId="2763578144" sldId="274"/>
            <ac:spMk id="2" creationId="{4BDD70C5-D6DE-2773-51EB-8FCC47BE6F6C}"/>
          </ac:spMkLst>
        </pc:spChg>
      </pc:sldChg>
      <pc:sldChg chg="modSp">
        <pc:chgData name="Yashwanth Chalamalla" userId="696db3abae221636" providerId="Windows Live" clId="Web-{00000000-0000-0000-0000-000000000000}" dt="2026-09-17T05:40:47.490" v="252" actId="1076"/>
        <pc:sldMkLst>
          <pc:docMk/>
          <pc:sldMk cId="2335325334" sldId="275"/>
        </pc:sldMkLst>
        <pc:spChg chg="mod">
          <ac:chgData name="Yashwanth Chalamalla" userId="696db3abae221636" providerId="Windows Live" clId="Web-{00000000-0000-0000-0000-000000000000}" dt="2026-09-17T05:40:47.490" v="252" actId="1076"/>
          <ac:spMkLst>
            <pc:docMk/>
            <pc:sldMk cId="2335325334" sldId="275"/>
            <ac:spMk id="2" creationId="{7EA68A05-20E4-0975-70FE-E3E74A3FD445}"/>
          </ac:spMkLst>
        </pc:spChg>
      </pc:sldChg>
      <pc:sldChg chg="modSp add replId">
        <pc:chgData name="Yashwanth Chalamalla" userId="696db3abae221636" providerId="Windows Live" clId="Web-{00000000-0000-0000-0000-000000000000}" dt="2026-09-17T05:39:16.846" v="230" actId="20577"/>
        <pc:sldMkLst>
          <pc:docMk/>
          <pc:sldMk cId="1088589125" sldId="277"/>
        </pc:sldMkLst>
        <pc:spChg chg="mod">
          <ac:chgData name="Yashwanth Chalamalla" userId="696db3abae221636" providerId="Windows Live" clId="Web-{00000000-0000-0000-0000-000000000000}" dt="2026-09-17T05:39:16.846" v="230" actId="20577"/>
          <ac:spMkLst>
            <pc:docMk/>
            <pc:sldMk cId="1088589125" sldId="277"/>
            <ac:spMk id="2" creationId="{B4B9E552-F7DB-AC3D-5B80-C9D7E6FE5B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3874BDD-1B2E-7AF5-5538-DBB2BC91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8A25CC4-6D53-EEF1-7569-EF0AB5B06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1CE0B32-AE81-BA25-BDCE-AB651506EF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6967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F9FBF10-5628-C34D-1FA9-4D2DB646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5A614DE-A7B7-0084-C89C-DDA4ACF90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FD88A04-7428-0EBE-63F7-BF6965F10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9306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D4A0A5-687C-F5B5-5499-59695CDF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C4C84FF-17CF-EE76-AC52-FC6BB61DA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E1EBBCE-FF08-4DA7-13E9-264BA98B8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4580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78BE5E-435F-5496-A164-923C24D7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28938AD-BF93-E607-B10D-414399558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9684E54-3411-FCC3-44C5-0C344398E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8885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547979B-7486-50ED-C429-1DEDD513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24E5BA9-0878-1958-E68C-5A965B412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2CCCABB-4A53-8606-E5A4-FFCF0F5FA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9377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1D3B225-1E91-5AEB-476E-40D42DC0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EC6F43E-2638-367C-1A85-F0F831C1A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28A8221-8D45-AC7D-3A79-595C66C36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2414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69E5A23-1306-0082-12BF-86A8C7BE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77E146B-14C8-47A0-8E97-2BC84E149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51302F2-713C-0D9C-A73A-9A0D5D36A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682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4C16BED-D812-2547-54C4-592C8945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A46A329-7C3A-C544-AC46-0B4CC3E8C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BD89748-1D68-C765-AEFA-B13B7AA14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3820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1FE77A-DB57-CE54-7DAA-831526AD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9B60BEE-1B8C-1A57-19BE-A32214946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0C39600-4256-0017-109D-109577D75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8917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ACFA112-C692-5241-F7B4-BEBAC753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C43511D-A2D8-73B3-C563-B9988777C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2CD14BD-5849-234F-A1E1-F982FD46B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4786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EB964AD-B3C8-4924-6F94-EEA34C42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83FE299-2D27-649B-5B28-B8D75CB40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846DCBF-5CCB-0722-E9DE-FC10C6A43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3529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B433E0-7CE5-F8F0-5DFB-D7E730A8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8B70D72-00AA-95CE-ADBB-15E44BF4B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4D9C85E-6663-44DE-C8F0-466DC893F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6885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77918CC-7BCD-3952-266B-210F9307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581CDE9-08E0-3AE8-D571-1E0541250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F27A0FF-5263-96DE-80EB-437B7CABA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5252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742826-BD81-FFF9-2152-F233ABD8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15FAE1A-1E9D-3EF3-AA81-56AEB5CFB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9216691-FB1B-571B-DA2F-885AA9835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4793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1505C5-D3B5-DF28-CB82-DED917B1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DB68D54-01FB-C892-1681-71D85EE2E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4D3C8E8-F7A3-4617-593B-9C6BF3903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10382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531E2C1-185E-7676-F7D3-CB42F72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2B86D98-2800-F19A-5C78-134F0B819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D500402-3DCF-088D-1E10-5FFB8918A9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7068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8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Retail Supply Chain &amp; Warehousing </a:t>
            </a:r>
            <a:r>
              <a:rPr lang="en-IN" sz="2800" b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lang="en-US" sz="28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lang="en-US"/>
          </a:p>
        </p:txBody>
      </p:sp>
      <p:pic>
        <p:nvPicPr>
          <p:cNvPr id="2" name="Standard (1)">
            <a:hlinkClick r:id="" action="ppaction://media"/>
            <a:extLst>
              <a:ext uri="{FF2B5EF4-FFF2-40B4-BE49-F238E27FC236}">
                <a16:creationId xmlns:a16="http://schemas.microsoft.com/office/drawing/2014/main" id="{EDB4ACA7-14B8-E5A3-0B97-A8D0893922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61532" y="6132752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433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Yashwanth ch</a:t>
            </a:r>
          </a:p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4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Btech</a:t>
            </a:r>
            <a:endParaRPr lang="en-IN" sz="2400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SzPts val="2400"/>
            </a:pPr>
            <a:endParaRPr lang="en-IN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Experience: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Fresher</a:t>
            </a:r>
            <a:endParaRPr sz="2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2400"/>
            </a:pPr>
            <a:r>
              <a:rPr lang="en-US" sz="2400" b="1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Linkedin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800">
                <a:solidFill>
                  <a:schemeClr val="dk1"/>
                </a:solidFill>
                <a:ea typeface="Calibri"/>
              </a:rPr>
              <a:t>https://www.linkedin.com/in/yashwanth-ch-96806a306/?isSelfProfile=true</a:t>
            </a:r>
          </a:p>
          <a:p>
            <a:pPr>
              <a:buSzPts val="2400"/>
            </a:pPr>
            <a:endParaRPr lang="en-US" sz="18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SzPts val="2400"/>
            </a:pPr>
            <a:endParaRPr lang="en-US" sz="24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SzPts val="2400"/>
            </a:pPr>
            <a:r>
              <a:rPr lang="en-US" sz="2400" b="1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800">
                <a:solidFill>
                  <a:schemeClr val="dk1"/>
                </a:solidFill>
                <a:ea typeface="Calibri"/>
              </a:rPr>
              <a:t>https://github.com/yashwanth1760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lang="en-IN" sz="3200" b="0" i="0" u="none" strike="noStrike" cap="none">
              <a:solidFill>
                <a:srgbClr val="FF0000"/>
              </a:solidFill>
              <a:latin typeface="Lato Black"/>
              <a:ea typeface="Lato Black"/>
              <a:cs typeface="Lato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Table of contents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705757" y="1346997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47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Project Overview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lang="en-US"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Business Scenario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Business Objectives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Dataset &amp; Database Overview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ER Diagram &amp; Database Structure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Analysis of the Objectives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Overall Key Findings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Business Recommendations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Conclusion</a:t>
            </a:r>
            <a:br>
              <a:rPr lang="en-IN" sz="2000" b="1">
                <a:latin typeface="Arial"/>
                <a:ea typeface="Arial"/>
                <a:cs typeface="Arial"/>
              </a:rPr>
            </a:br>
            <a:endParaRPr sz="2000" b="1">
              <a:latin typeface="Arial"/>
              <a:ea typeface="Arial"/>
              <a:cs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>
                <a:latin typeface="Arial"/>
                <a:ea typeface="Arial"/>
                <a:cs typeface="Arial"/>
                <a:sym typeface="Arial"/>
              </a:rPr>
              <a:t>Q&amp;A</a:t>
            </a:r>
            <a:endParaRPr sz="2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6F1D5ED-B118-659B-DF87-E685C3C6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97C2EB8-B373-441B-EBA8-5960C1272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773C6-4923-5E8A-C4F3-0DEC30E71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159" y="1345461"/>
            <a:ext cx="11507243" cy="4528790"/>
          </a:xfrm>
        </p:spPr>
        <p:txBody>
          <a:bodyPr>
            <a:normAutofit/>
          </a:bodyPr>
          <a:lstStyle/>
          <a:p>
            <a:r>
              <a:rPr lang="en-US" sz="2400"/>
              <a:t>Retail supply chain operations rely on regional warehouses replenishing inventory from external suppliers.</a:t>
            </a:r>
          </a:p>
          <a:p>
            <a:r>
              <a:rPr lang="en-US" sz="2400"/>
              <a:t>Efficient warehouse logistics depend on order demand, supplier fulfillment, driver ratings, and fleet utilization.</a:t>
            </a:r>
          </a:p>
          <a:p>
            <a:r>
              <a:rPr lang="en-US" sz="2400"/>
              <a:t>This project uses </a:t>
            </a:r>
            <a:r>
              <a:rPr lang="en-US" sz="2400" b="1"/>
              <a:t>MySQL</a:t>
            </a:r>
            <a:r>
              <a:rPr lang="en-US" sz="2400"/>
              <a:t> to </a:t>
            </a:r>
            <a:r>
              <a:rPr lang="en-US" sz="2400" b="1"/>
              <a:t>analyze</a:t>
            </a:r>
            <a:r>
              <a:rPr lang="en-US" sz="2400"/>
              <a:t> supply chain data stored across six relational database tables.</a:t>
            </a:r>
          </a:p>
          <a:p>
            <a:r>
              <a:rPr lang="en-US" sz="2400"/>
              <a:t>The analysis focuses on evaluating warehouse purchasing behavior, shipment performance, and logistics bottlenecks.</a:t>
            </a:r>
          </a:p>
          <a:p>
            <a:r>
              <a:rPr lang="en-US" sz="2400"/>
              <a:t>The final insights help optimize procurement strategy, delivery timelines, and resource allocation decision-making.</a:t>
            </a:r>
          </a:p>
          <a:p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9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7DD24A7-FABF-F1EE-4F5D-B61B5007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654C24D-524D-CCB1-7B78-09B0D268F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Business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B9B9B-8BDA-63AC-F2D3-E509B63D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159" y="1345461"/>
            <a:ext cx="11507243" cy="4716680"/>
          </a:xfrm>
        </p:spPr>
        <p:txBody>
          <a:bodyPr>
            <a:normAutofit fontScale="92500" lnSpcReduction="20000"/>
          </a:bodyPr>
          <a:lstStyle/>
          <a:p>
            <a:r>
              <a:rPr lang="en-US" sz="2400"/>
              <a:t>North Peak Retail Supply Co. operates a network of regional warehouses to replenish store Inventory from external suppliers.</a:t>
            </a:r>
            <a:endParaRPr lang="en-US"/>
          </a:p>
          <a:p>
            <a:endParaRPr lang="en-US" sz="2400"/>
          </a:p>
          <a:p>
            <a:r>
              <a:rPr lang="en-US" sz="2400"/>
              <a:t>As ordering volume grows, Procurement and Operations teams need data to track ordering demand and warehouse activity.</a:t>
            </a:r>
            <a:endParaRPr lang="en-US"/>
          </a:p>
          <a:p>
            <a:endParaRPr lang="en-US" sz="2400"/>
          </a:p>
          <a:p>
            <a:r>
              <a:rPr lang="en-US" sz="2400"/>
              <a:t>Managing inventory fulfillment across different supplier categories and regional warehouse types.</a:t>
            </a:r>
            <a:endParaRPr lang="en-US"/>
          </a:p>
          <a:p>
            <a:endParaRPr lang="en-US" sz="2400"/>
          </a:p>
          <a:p>
            <a:r>
              <a:rPr lang="en-US" sz="2400"/>
              <a:t>Understanding how purchase order priorities, transit durations, and order costs drive overall demand.</a:t>
            </a:r>
            <a:endParaRPr lang="en-US"/>
          </a:p>
          <a:p>
            <a:endParaRPr lang="en-US" sz="2400"/>
          </a:p>
          <a:p>
            <a:r>
              <a:rPr lang="en-US" sz="2400"/>
              <a:t>Monitoring shipment outcomes such as Delivered, Delayed, Damaged, and In-Transit across the vehicle fleet.</a:t>
            </a:r>
            <a:endParaRPr lang="en-US"/>
          </a:p>
          <a:p>
            <a:pPr marL="114300" indent="0">
              <a:buNone/>
            </a:pPr>
            <a:endParaRPr lang="en-US" sz="2400"/>
          </a:p>
          <a:p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5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8E7208C-7F0A-5366-E3E8-CBFDD6144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502C602-B980-C520-7BCC-A4C956B52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Business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21362-B5DC-7C13-98B8-ACE2EC752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159" y="1345461"/>
            <a:ext cx="11507243" cy="452879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/>
              <a:t>Understand Purchase Order Demand</a:t>
            </a:r>
            <a:r>
              <a:rPr lang="en-US" sz="2400"/>
              <a:t> — Identify high-volume warehouses, supplier categories, order priorities, and product category spend.</a:t>
            </a:r>
            <a:endParaRPr lang="en-US"/>
          </a:p>
          <a:p>
            <a:endParaRPr lang="en-US" sz="2400"/>
          </a:p>
          <a:p>
            <a:r>
              <a:rPr lang="en-US" sz="2400" b="1"/>
              <a:t>Understand Warehouse Behavior</a:t>
            </a:r>
            <a:r>
              <a:rPr lang="en-US" sz="2400"/>
              <a:t> — Compare warehouse ordering patterns, order frequencies, total spend, and regional differences.</a:t>
            </a:r>
            <a:endParaRPr lang="en-US"/>
          </a:p>
          <a:p>
            <a:endParaRPr lang="en-US" sz="2400"/>
          </a:p>
          <a:p>
            <a:r>
              <a:rPr lang="en-US" sz="2400" b="1"/>
              <a:t>Evaluate Shipment Performance</a:t>
            </a:r>
            <a:r>
              <a:rPr lang="en-US" sz="2400"/>
              <a:t> — Analyze delivery outcomes (Delivered, Delayed, Damaged, In-Transit), transit durations, and supplier fulfillment efficiency.</a:t>
            </a:r>
            <a:endParaRPr lang="en-US"/>
          </a:p>
          <a:p>
            <a:endParaRPr lang="en-US" sz="2400"/>
          </a:p>
          <a:p>
            <a:r>
              <a:rPr lang="en-US" sz="2400" b="1"/>
              <a:t>Understand Resource Utilization</a:t>
            </a:r>
            <a:r>
              <a:rPr lang="en-US" sz="2400"/>
              <a:t> — Evaluate staff workload, ratings, vehicle usage across fleet types, and resource distribution.</a:t>
            </a:r>
            <a:endParaRPr lang="en-US"/>
          </a:p>
          <a:p>
            <a:endParaRPr lang="en-US" sz="2400"/>
          </a:p>
          <a:p>
            <a:r>
              <a:rPr lang="en-US" sz="2400" b="1"/>
              <a:t>Identify Operational Issues</a:t>
            </a:r>
            <a:r>
              <a:rPr lang="en-US" sz="2400"/>
              <a:t> — Detect purchase orders requiring multiple shipment attempts, recurring fulfillment bottlenecks, and high-problem warehouses or suppliers.</a:t>
            </a:r>
            <a:endParaRPr lang="en-US"/>
          </a:p>
          <a:p>
            <a:pPr marL="114300" indent="0">
              <a:buNone/>
            </a:pPr>
            <a:endParaRPr lang="en-US" sz="2400"/>
          </a:p>
          <a:p>
            <a:pPr marL="114300" indent="0">
              <a:buNone/>
            </a:pPr>
            <a:endParaRPr lang="en-US" sz="2400"/>
          </a:p>
          <a:p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3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2FD042E-0D17-6CA7-3193-4B2F79A7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3E64B4E-75C1-E119-A8AF-F12A37405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Dataset &amp; Database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D239F1-F6DF-1184-DC12-48D256F92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09507"/>
              </p:ext>
            </p:extLst>
          </p:nvPr>
        </p:nvGraphicFramePr>
        <p:xfrm>
          <a:off x="469726" y="1116904"/>
          <a:ext cx="6761478" cy="51328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3826">
                  <a:extLst>
                    <a:ext uri="{9D8B030D-6E8A-4147-A177-3AD203B41FA5}">
                      <a16:colId xmlns:a16="http://schemas.microsoft.com/office/drawing/2014/main" val="1091493833"/>
                    </a:ext>
                  </a:extLst>
                </a:gridCol>
                <a:gridCol w="2253826">
                  <a:extLst>
                    <a:ext uri="{9D8B030D-6E8A-4147-A177-3AD203B41FA5}">
                      <a16:colId xmlns:a16="http://schemas.microsoft.com/office/drawing/2014/main" val="1362215449"/>
                    </a:ext>
                  </a:extLst>
                </a:gridCol>
                <a:gridCol w="2253826">
                  <a:extLst>
                    <a:ext uri="{9D8B030D-6E8A-4147-A177-3AD203B41FA5}">
                      <a16:colId xmlns:a16="http://schemas.microsoft.com/office/drawing/2014/main" val="1801886203"/>
                    </a:ext>
                  </a:extLst>
                </a:gridCol>
              </a:tblGrid>
              <a:tr h="37173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Table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Records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707899"/>
                  </a:ext>
                </a:extLst>
              </a:tr>
              <a:tr h="78636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warehouses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Warehouse details, region, type, and location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77299"/>
                  </a:ext>
                </a:extLst>
              </a:tr>
              <a:tr h="800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suppliers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Supplier details, category, and fulfillment activity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265953"/>
                  </a:ext>
                </a:extLst>
              </a:tr>
              <a:tr h="800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vehicles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Vehicle details, fleet type, and operational capacity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704767"/>
                  </a:ext>
                </a:extLst>
              </a:tr>
              <a:tr h="800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purchase_orders</a:t>
                      </a:r>
                      <a:endParaRPr lang="en-US" err="1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Order details, cost, priority, and product category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5,000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07927"/>
                  </a:ext>
                </a:extLst>
              </a:tr>
              <a:tr h="78636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shipments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Shipment status, transit duration, and attempts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5,800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757127"/>
                  </a:ext>
                </a:extLst>
              </a:tr>
              <a:tr h="78636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staff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Staff information, roles, and recorded ratings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1710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1BC926-4627-7F85-8C1D-5A9132E6E2B1}"/>
              </a:ext>
            </a:extLst>
          </p:cNvPr>
          <p:cNvSpPr txBox="1"/>
          <p:nvPr/>
        </p:nvSpPr>
        <p:spPr>
          <a:xfrm>
            <a:off x="8225425" y="1132561"/>
            <a:ext cx="3329835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Observation</a:t>
            </a:r>
            <a:r>
              <a:rPr lang="en-US" sz="1800"/>
              <a:t> :-</a:t>
            </a:r>
          </a:p>
          <a:p>
            <a:endParaRPr lang="en-US"/>
          </a:p>
          <a:p>
            <a:r>
              <a:rPr lang="en-US"/>
              <a:t>5,800 shipments are recorded for 5,000 purchase orders, indicating that some orders required multiple shipment attempts.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DD6DC-D69F-9614-FB02-8EC884AB2F19}"/>
              </a:ext>
            </a:extLst>
          </p:cNvPr>
          <p:cNvSpPr txBox="1"/>
          <p:nvPr/>
        </p:nvSpPr>
        <p:spPr>
          <a:xfrm>
            <a:off x="8225424" y="3533384"/>
            <a:ext cx="3329837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Finding</a:t>
            </a:r>
            <a:r>
              <a:rPr lang="en-US" sz="2000"/>
              <a:t> </a:t>
            </a:r>
            <a:r>
              <a:rPr lang="en-US"/>
              <a:t>The six relational tables are connected primary and foreign keys to track the complete procurement lifecycle.</a:t>
            </a:r>
            <a:endParaRPr lang="en-US" sz="20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9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DF2CCAF-36CC-6819-A763-8F397C9F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A5ABC43-2AD9-0CF8-25CB-58F3B28AF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ER Diagram &amp; Database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53CEB-AFA7-5C15-B791-02FCC0EBD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256" y="1033854"/>
            <a:ext cx="6593518" cy="5103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25E2C6-9301-44DD-8BC4-9D0D809E4384}"/>
              </a:ext>
            </a:extLst>
          </p:cNvPr>
          <p:cNvSpPr txBox="1"/>
          <p:nvPr/>
        </p:nvSpPr>
        <p:spPr>
          <a:xfrm>
            <a:off x="501041" y="1581411"/>
            <a:ext cx="348641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Main Relationships</a:t>
            </a:r>
          </a:p>
          <a:p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sz="1600"/>
              <a:t>Warehouses -&gt; Purchase Orders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Suppliers -&gt; Purchase Orders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Purchase Orders -&gt; Shipments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Staff -&gt; Shipments</a:t>
            </a:r>
          </a:p>
          <a:p>
            <a:pPr marL="228600" indent="-228600">
              <a:buFont typeface=""/>
              <a:buChar char="•"/>
            </a:pPr>
            <a:r>
              <a:rPr lang="en-US" sz="1600"/>
              <a:t>Vehicles -&gt; Shipments</a:t>
            </a:r>
          </a:p>
          <a:p>
            <a:endParaRPr lang="en-US" sz="1800" b="1"/>
          </a:p>
          <a:p>
            <a:r>
              <a:rPr lang="en-US" sz="1800" b="1"/>
              <a:t>Primary Keys</a:t>
            </a:r>
            <a:endParaRPr lang="en-US" sz="1800"/>
          </a:p>
          <a:p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sz="1600" err="1"/>
              <a:t>warehouse_id</a:t>
            </a:r>
            <a:r>
              <a:rPr lang="en-US" sz="1600"/>
              <a:t>, </a:t>
            </a:r>
            <a:r>
              <a:rPr lang="en-US" sz="1600" err="1"/>
              <a:t>supplier_id</a:t>
            </a:r>
            <a:r>
              <a:rPr lang="en-US" sz="1600"/>
              <a:t>, </a:t>
            </a:r>
            <a:r>
              <a:rPr lang="en-US" sz="1600" err="1"/>
              <a:t>vehicle_id</a:t>
            </a:r>
            <a:endParaRPr lang="en-US" sz="1600"/>
          </a:p>
          <a:p>
            <a:pPr marL="228600" indent="-228600">
              <a:buFont typeface=""/>
              <a:buChar char="•"/>
            </a:pPr>
            <a:r>
              <a:rPr lang="en-US" sz="1600" err="1"/>
              <a:t>purchase_order_id</a:t>
            </a:r>
            <a:r>
              <a:rPr lang="en-US" sz="1600"/>
              <a:t>, </a:t>
            </a:r>
            <a:r>
              <a:rPr lang="en-US" sz="1600" err="1"/>
              <a:t>shipment_id</a:t>
            </a:r>
            <a:r>
              <a:rPr lang="en-US" sz="1600"/>
              <a:t>, </a:t>
            </a:r>
            <a:r>
              <a:rPr lang="en-US" sz="1600" err="1"/>
              <a:t>staff_id</a:t>
            </a:r>
            <a:endParaRPr lang="en-US" sz="16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6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720DB78-F83B-2CF7-D45E-8B1B3925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C39CEE0-F50E-986C-BD2E-305F6619F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242708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Basic Analysis: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E1BF0-5873-F545-6917-AA896D8A43D8}"/>
              </a:ext>
            </a:extLst>
          </p:cNvPr>
          <p:cNvSpPr txBox="1"/>
          <p:nvPr/>
        </p:nvSpPr>
        <p:spPr>
          <a:xfrm>
            <a:off x="281836" y="850726"/>
            <a:ext cx="1163876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Key Findings :-</a:t>
            </a:r>
          </a:p>
          <a:p>
            <a:endParaRPr lang="en-US" sz="2000" b="1"/>
          </a:p>
          <a:p>
            <a:pPr marL="228600" indent="-228600">
              <a:buFont typeface=""/>
              <a:buChar char="•"/>
            </a:pPr>
            <a:r>
              <a:rPr lang="en-US" sz="1800" b="1"/>
              <a:t>Operational Scale:</a:t>
            </a:r>
            <a:r>
              <a:rPr lang="en-US" sz="1800"/>
              <a:t> The network runs across </a:t>
            </a:r>
            <a:r>
              <a:rPr lang="en-US" sz="1800" b="1"/>
              <a:t>30 warehouses</a:t>
            </a:r>
            <a:r>
              <a:rPr lang="en-US" sz="1800"/>
              <a:t> managed by </a:t>
            </a:r>
            <a:r>
              <a:rPr lang="en-US" sz="1800" b="1"/>
              <a:t>105 active staff members</a:t>
            </a:r>
            <a:r>
              <a:rPr lang="en-US" sz="1800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1800" b="1"/>
              <a:t>Order &amp; Fleet Volume:</a:t>
            </a:r>
            <a:r>
              <a:rPr lang="en-US" sz="1800"/>
              <a:t> The system processed </a:t>
            </a:r>
            <a:r>
              <a:rPr lang="en-US" sz="1800" b="1"/>
              <a:t>5,000 purchase orders</a:t>
            </a:r>
            <a:r>
              <a:rPr lang="en-US" sz="1800"/>
              <a:t> and </a:t>
            </a:r>
            <a:r>
              <a:rPr lang="en-US" sz="1800" b="1"/>
              <a:t>5,800 shipments</a:t>
            </a:r>
            <a:r>
              <a:rPr lang="en-US" sz="1800"/>
              <a:t> using </a:t>
            </a:r>
            <a:r>
              <a:rPr lang="en-US" sz="1800" b="1"/>
              <a:t>4 vehicle types</a:t>
            </a:r>
            <a:r>
              <a:rPr lang="en-US" sz="1800"/>
              <a:t> (Refrigerated Truck, Trailer, Container Truck, Mini Truck).</a:t>
            </a:r>
          </a:p>
          <a:p>
            <a:pPr marL="228600" indent="-228600">
              <a:buFont typeface=""/>
              <a:buChar char="•"/>
            </a:pPr>
            <a:r>
              <a:rPr lang="en-US" sz="1800" b="1"/>
              <a:t>Product Mix:</a:t>
            </a:r>
            <a:r>
              <a:rPr lang="en-US" sz="1800"/>
              <a:t> Orders span </a:t>
            </a:r>
            <a:r>
              <a:rPr lang="en-US" sz="1800" b="1"/>
              <a:t>6 categories</a:t>
            </a:r>
            <a:r>
              <a:rPr lang="en-US" sz="1800"/>
              <a:t> including Electronics, Personal Care, Grocery, Furniture, Apparel, Stationery, and Home &amp; Kitchen.</a:t>
            </a:r>
          </a:p>
          <a:p>
            <a:pPr marL="228600" indent="-228600">
              <a:buFont typeface=""/>
              <a:buChar char="•"/>
            </a:pPr>
            <a:r>
              <a:rPr lang="en-US" sz="1800" b="1"/>
              <a:t>Financial Value:</a:t>
            </a:r>
            <a:r>
              <a:rPr lang="en-US" sz="1800"/>
              <a:t> Total order cost reached </a:t>
            </a:r>
            <a:r>
              <a:rPr lang="en-US" sz="1800" b="1"/>
              <a:t>$4.09 billion</a:t>
            </a:r>
            <a:r>
              <a:rPr lang="en-US" sz="1800"/>
              <a:t>, with an average of </a:t>
            </a:r>
            <a:r>
              <a:rPr lang="en-US" sz="1800" b="1"/>
              <a:t>1,078 units</a:t>
            </a:r>
            <a:r>
              <a:rPr lang="en-US" sz="1800"/>
              <a:t> ordered per purchase order.</a:t>
            </a:r>
          </a:p>
          <a:p>
            <a:pPr marL="228600" indent="-228600">
              <a:buFont typeface=""/>
              <a:buChar char="•"/>
            </a:pPr>
            <a:endParaRPr lang="en-US" sz="1800"/>
          </a:p>
          <a:p>
            <a:pPr marL="228600" indent="-228600">
              <a:buFont typeface=""/>
              <a:buChar char="•"/>
            </a:pPr>
            <a:endParaRPr lang="en-US"/>
          </a:p>
          <a:p>
            <a:r>
              <a:rPr lang="en-US" sz="2000" b="1"/>
              <a:t>Key Insights :-</a:t>
            </a:r>
          </a:p>
          <a:p>
            <a:endParaRPr lang="en-US" sz="2000" b="1"/>
          </a:p>
          <a:p>
            <a:pPr marL="228600" indent="-228600">
              <a:buFont typeface=""/>
              <a:buChar char="•"/>
            </a:pPr>
            <a:r>
              <a:rPr lang="en-US" sz="1800" b="1"/>
              <a:t>Re-shipments:</a:t>
            </a:r>
            <a:r>
              <a:rPr lang="en-US" sz="1800"/>
              <a:t> Having 5,800 shipments for 5,000 orders shows that some orders required more than one delivery attempt.</a:t>
            </a:r>
          </a:p>
          <a:p>
            <a:pPr marL="228600" indent="-228600">
              <a:buFont typeface=""/>
              <a:buChar char="•"/>
            </a:pPr>
            <a:r>
              <a:rPr lang="en-US" sz="1800" b="1"/>
              <a:t>High Order Value:</a:t>
            </a:r>
            <a:r>
              <a:rPr lang="en-US" sz="1800"/>
              <a:t> Large order sizes (~1,078 items) mean each order involves high financial value, making delivery accuracy critical.</a:t>
            </a:r>
          </a:p>
          <a:p>
            <a:pPr marL="228600" indent="-228600">
              <a:buFont typeface=""/>
              <a:buChar char="•"/>
            </a:pPr>
            <a:r>
              <a:rPr lang="en-US" sz="1800" b="1"/>
              <a:t>Workload Management:</a:t>
            </a:r>
            <a:r>
              <a:rPr lang="en-US" sz="1800"/>
              <a:t> A active team of 105 staff members handles a high volume of shipments, requiring clear route and vehicle planning</a:t>
            </a:r>
            <a:r>
              <a:rPr lang="en-US"/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83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74A316E-AB3C-4458-F85B-4BAA900C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443E6E8-818F-5099-74BD-7697FC35E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Analysis of the objectives :- </a:t>
            </a:r>
            <a:r>
              <a:rPr lang="en-US" sz="2400" b="1">
                <a:solidFill>
                  <a:srgbClr val="FF0000"/>
                </a:solidFill>
              </a:rPr>
              <a:t>Purchase Order Demand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235E9-2C09-05FB-E529-00A664B8FE24}"/>
              </a:ext>
            </a:extLst>
          </p:cNvPr>
          <p:cNvSpPr txBox="1"/>
          <p:nvPr/>
        </p:nvSpPr>
        <p:spPr>
          <a:xfrm>
            <a:off x="281836" y="1178351"/>
            <a:ext cx="11628328" cy="5201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b="1"/>
              <a:t>Hyderabad, Mumbai &amp; Kochi are the top spending hubs:</a:t>
            </a:r>
            <a:r>
              <a:rPr lang="en-US" sz="1600"/>
              <a:t> Hyderabad leads at </a:t>
            </a:r>
            <a:r>
              <a:rPr lang="en-US" sz="1600" b="1"/>
              <a:t>$383.57M</a:t>
            </a:r>
            <a:r>
              <a:rPr lang="en-US" sz="1600"/>
              <a:t>, while Kochi handles the highest order volume (</a:t>
            </a:r>
            <a:r>
              <a:rPr lang="en-US" sz="1600" b="1"/>
              <a:t>399 orders</a:t>
            </a:r>
            <a:r>
              <a:rPr lang="en-US" sz="1600"/>
              <a:t>).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Middlemen dominate procurement:</a:t>
            </a:r>
            <a:r>
              <a:rPr lang="en-US" sz="1600"/>
              <a:t> Distributors &amp; wholesalers account for </a:t>
            </a:r>
            <a:r>
              <a:rPr lang="en-US" sz="1600" b="1"/>
              <a:t>60%+ of network spend ($2.23B)</a:t>
            </a:r>
            <a:r>
              <a:rPr lang="en-US" sz="1600"/>
              <a:t>, compared with </a:t>
            </a:r>
            <a:r>
              <a:rPr lang="en-US" sz="1600" b="1"/>
              <a:t>$1.43B</a:t>
            </a:r>
            <a:r>
              <a:rPr lang="en-US" sz="1600"/>
              <a:t> from direct manufacturer purchases.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Bulk orders consume the largest budget:</a:t>
            </a:r>
            <a:r>
              <a:rPr lang="en-US" sz="1600"/>
              <a:t> </a:t>
            </a:r>
            <a:r>
              <a:rPr lang="en-US" sz="1600" b="1"/>
              <a:t>25.7% of orders</a:t>
            </a:r>
            <a:r>
              <a:rPr lang="en-US" sz="1600"/>
              <a:t> account for </a:t>
            </a:r>
            <a:r>
              <a:rPr lang="en-US" sz="1600" b="1"/>
              <a:t>61% of total spend ($2.77B)</a:t>
            </a:r>
            <a:r>
              <a:rPr lang="en-US" sz="1600"/>
              <a:t>, while Standard orders form the operational baseline with </a:t>
            </a:r>
            <a:r>
              <a:rPr lang="en-US" sz="1600" b="1"/>
              <a:t>2,720 orders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Electronics &amp; Furniture drive spending:</a:t>
            </a:r>
            <a:r>
              <a:rPr lang="en-US" sz="1600"/>
              <a:t> Together they contribute </a:t>
            </a:r>
            <a:r>
              <a:rPr lang="en-US" sz="1600" b="1"/>
              <a:t>71%+ of total spend ($3.23B)</a:t>
            </a:r>
            <a:r>
              <a:rPr lang="en-US" sz="1600"/>
              <a:t>; Electronics has the highest average order value (~</a:t>
            </a:r>
            <a:r>
              <a:rPr lang="en-US" sz="1600" b="1"/>
              <a:t>$2.50M</a:t>
            </a:r>
            <a:r>
              <a:rPr lang="en-US" sz="1600"/>
              <a:t>).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Grocery drives volume, not value:</a:t>
            </a:r>
            <a:r>
              <a:rPr lang="en-US" sz="1600"/>
              <a:t> </a:t>
            </a:r>
            <a:r>
              <a:rPr lang="en-US" sz="1600" b="1"/>
              <a:t>1,406 orders and 15.38M units</a:t>
            </a:r>
            <a:r>
              <a:rPr lang="en-US" sz="1600"/>
              <a:t>, but a relatively low average order value (~</a:t>
            </a:r>
            <a:r>
              <a:rPr lang="en-US" sz="1600" b="1"/>
              <a:t>$322K</a:t>
            </a:r>
            <a:r>
              <a:rPr lang="en-US" sz="1600"/>
              <a:t>).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High-value demand is concentrated:</a:t>
            </a:r>
            <a:r>
              <a:rPr lang="en-US" sz="1600"/>
              <a:t> Hyderabad + Electronics + Bulk orders alone account for </a:t>
            </a:r>
            <a:r>
              <a:rPr lang="en-US" sz="1600" b="1"/>
              <a:t>$381.82M across 28 orders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Seasonal procurement peaks in June:</a:t>
            </a:r>
            <a:r>
              <a:rPr lang="en-US" sz="1600"/>
              <a:t> Spending reaches </a:t>
            </a:r>
            <a:r>
              <a:rPr lang="en-US" sz="1600" b="1"/>
              <a:t>$202.66M in June 2025</a:t>
            </a:r>
            <a:r>
              <a:rPr lang="en-US" sz="1600"/>
              <a:t> and </a:t>
            </a:r>
            <a:r>
              <a:rPr lang="en-US" sz="1600" b="1"/>
              <a:t>$183.86M in June 2026</a:t>
            </a:r>
            <a:r>
              <a:rPr lang="en-US" sz="1600"/>
              <a:t>, indicating a recurring mid-year demand surge.</a:t>
            </a:r>
          </a:p>
          <a:p>
            <a:endParaRPr lang="en-US" b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12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77FF6BE-703E-DE52-8497-61662AEA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93A70B7-7A4F-C435-0DC5-0ED049A87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Analysis of the objectives :- </a:t>
            </a:r>
            <a:r>
              <a:rPr lang="en-US" sz="2400" b="1">
                <a:solidFill>
                  <a:srgbClr val="FF0000"/>
                </a:solidFill>
              </a:rPr>
              <a:t>Warehouse Ordering </a:t>
            </a:r>
            <a:r>
              <a:rPr lang="en-US" sz="2400" b="1" err="1">
                <a:solidFill>
                  <a:srgbClr val="FF0000"/>
                </a:solidFill>
              </a:rPr>
              <a:t>Behaviour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8541F-FFFE-3928-4C6D-14C43C8D62F6}"/>
              </a:ext>
            </a:extLst>
          </p:cNvPr>
          <p:cNvSpPr txBox="1"/>
          <p:nvPr/>
        </p:nvSpPr>
        <p:spPr>
          <a:xfrm>
            <a:off x="281837" y="1186285"/>
            <a:ext cx="11510442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b="1"/>
              <a:t>Distribution Warehouses lead site-level spend:</a:t>
            </a:r>
            <a:r>
              <a:rPr lang="en-US" sz="1600"/>
              <a:t> Top 4 locations—Hyderabad, Mumbai, Lucknow &amp; Kochi—are all Distribution Warehouses; Hyderabad exceeds </a:t>
            </a:r>
            <a:r>
              <a:rPr lang="en-US" sz="1600" b="1"/>
              <a:t>₹357M</a:t>
            </a:r>
            <a:r>
              <a:rPr lang="en-US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Chandigarh Regional has the highest average order value:</a:t>
            </a:r>
            <a:r>
              <a:rPr lang="en-US" sz="1600"/>
              <a:t> ~</a:t>
            </a:r>
            <a:r>
              <a:rPr lang="en-US" sz="1600" b="1"/>
              <a:t>₹1.11M</a:t>
            </a:r>
            <a:r>
              <a:rPr lang="en-US" sz="1600"/>
              <a:t> across 165 orders. 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South dominates regional spending:</a:t>
            </a:r>
            <a:r>
              <a:rPr lang="en-US" sz="1600"/>
              <a:t> </a:t>
            </a:r>
            <a:r>
              <a:rPr lang="en-US" sz="1600" b="1"/>
              <a:t>₹1.5B+</a:t>
            </a:r>
            <a:r>
              <a:rPr lang="en-US" sz="1600"/>
              <a:t> across 9 warehouses and </a:t>
            </a:r>
            <a:r>
              <a:rPr lang="en-US" sz="1600" b="1"/>
              <a:t>1,858 orders</a:t>
            </a:r>
            <a:r>
              <a:rPr lang="en-US" sz="1600"/>
              <a:t>; West records the highest average order value (~</a:t>
            </a:r>
            <a:r>
              <a:rPr lang="en-US" sz="1600" b="1"/>
              <a:t>₹882K</a:t>
            </a:r>
            <a:r>
              <a:rPr lang="en-US" sz="1600"/>
              <a:t>). 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Local Warehouses drive overall volume &amp; spend:</a:t>
            </a:r>
            <a:r>
              <a:rPr lang="en-US" sz="1600"/>
              <a:t> ~</a:t>
            </a:r>
            <a:r>
              <a:rPr lang="en-US" sz="1600" b="1"/>
              <a:t>₹2.58B</a:t>
            </a:r>
            <a:r>
              <a:rPr lang="en-US" sz="1600"/>
              <a:t> across </a:t>
            </a:r>
            <a:r>
              <a:rPr lang="en-US" sz="1600" b="1"/>
              <a:t>1,742 orders</a:t>
            </a:r>
            <a:r>
              <a:rPr lang="en-US" sz="1600"/>
              <a:t>, while Distribution Centers have the highest average order value (~</a:t>
            </a:r>
            <a:r>
              <a:rPr lang="en-US" sz="1600" b="1"/>
              <a:t>₹815K</a:t>
            </a:r>
            <a:r>
              <a:rPr lang="en-US" sz="1600"/>
              <a:t>). 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Procurement peaked in June 2025:</a:t>
            </a:r>
            <a:r>
              <a:rPr lang="en-US" sz="1600"/>
              <a:t> Monthly spend reached ~</a:t>
            </a:r>
            <a:r>
              <a:rPr lang="en-US" sz="1600" b="1"/>
              <a:t>₹202M</a:t>
            </a:r>
            <a:r>
              <a:rPr lang="en-US" sz="1600"/>
              <a:t>, with consistently high participation across nearly all 30 warehouses. 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Electronics &amp; Furniture are top spending categories:</a:t>
            </a:r>
            <a:r>
              <a:rPr lang="en-US" sz="1600"/>
              <a:t> Grocery has high order volume but lower spend due to lower unit prices. 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Stationery ranks lowest in spend &amp; volume</a:t>
            </a:r>
            <a:r>
              <a:rPr lang="en-US" sz="1600"/>
              <a:t> and is </a:t>
            </a:r>
            <a:r>
              <a:rPr lang="en-US" sz="1600" b="1"/>
              <a:t>mostly associated with Urgent-order priority</a:t>
            </a:r>
            <a:r>
              <a:rPr lang="en-US" sz="1600"/>
              <a:t>.</a:t>
            </a:r>
          </a:p>
          <a:p>
            <a:endParaRPr lang="en-US" b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07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B7C4D91-B69F-5815-45C3-9094F580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139C7BE-8693-7874-79B0-15DF5761F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Analysis of the objectives :- </a:t>
            </a:r>
            <a:r>
              <a:rPr lang="en-US" sz="2800" b="1">
                <a:solidFill>
                  <a:srgbClr val="FF0000"/>
                </a:solidFill>
              </a:rPr>
              <a:t>Shipment Performance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91F53-D225-BC65-9D15-6260BDF192B4}"/>
              </a:ext>
            </a:extLst>
          </p:cNvPr>
          <p:cNvSpPr txBox="1"/>
          <p:nvPr/>
        </p:nvSpPr>
        <p:spPr>
          <a:xfrm>
            <a:off x="281836" y="1341329"/>
            <a:ext cx="11628328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b="1">
                <a:solidFill>
                  <a:srgbClr val="1F1F1F"/>
                </a:solidFill>
              </a:rPr>
              <a:t>Supplier reliability varies significantly:</a:t>
            </a:r>
            <a:r>
              <a:rPr lang="en-US" sz="1600">
                <a:solidFill>
                  <a:srgbClr val="1F1F1F"/>
                </a:solidFill>
              </a:rPr>
              <a:t> Downs-Lee records the highest problem rate (</a:t>
            </a:r>
            <a:r>
              <a:rPr lang="en-US" sz="1600" b="1">
                <a:solidFill>
                  <a:srgbClr val="1F1F1F"/>
                </a:solidFill>
              </a:rPr>
              <a:t>50.88%</a:t>
            </a:r>
            <a:r>
              <a:rPr lang="en-US" sz="1600">
                <a:solidFill>
                  <a:srgbClr val="1F1F1F"/>
                </a:solidFill>
              </a:rPr>
              <a:t>), while Yates, Long &amp; Ross has the lowest (</a:t>
            </a:r>
            <a:r>
              <a:rPr lang="en-US" sz="1600" b="1">
                <a:solidFill>
                  <a:srgbClr val="1F1F1F"/>
                </a:solidFill>
              </a:rPr>
              <a:t>16.13%</a:t>
            </a:r>
            <a:r>
              <a:rPr lang="en-US" sz="1600">
                <a:solidFill>
                  <a:srgbClr val="1F1F1F"/>
                </a:solidFill>
              </a:rPr>
              <a:t>); </a:t>
            </a:r>
            <a:r>
              <a:rPr lang="en-US" sz="1600" b="1">
                <a:solidFill>
                  <a:srgbClr val="1F1F1F"/>
                </a:solidFill>
              </a:rPr>
              <a:t>22 suppliers exceed 35%</a:t>
            </a:r>
            <a:r>
              <a:rPr lang="en-US" sz="1600">
                <a:solidFill>
                  <a:srgbClr val="1F1F1F"/>
                </a:solidFill>
              </a:rPr>
              <a:t> problem rate.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1F1F1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1F1F1F"/>
                </a:solidFill>
              </a:rPr>
              <a:t>Problem shipments take longer:</a:t>
            </a:r>
            <a:r>
              <a:rPr lang="en-US" sz="1600">
                <a:solidFill>
                  <a:srgbClr val="1F1F1F"/>
                </a:solidFill>
              </a:rPr>
              <a:t> Damaged (</a:t>
            </a:r>
            <a:r>
              <a:rPr lang="en-US" sz="1600" b="1">
                <a:solidFill>
                  <a:srgbClr val="1F1F1F"/>
                </a:solidFill>
              </a:rPr>
              <a:t>37.16 </a:t>
            </a:r>
            <a:r>
              <a:rPr lang="en-US" sz="1600" b="1" err="1">
                <a:solidFill>
                  <a:srgbClr val="1F1F1F"/>
                </a:solidFill>
              </a:rPr>
              <a:t>hrs</a:t>
            </a:r>
            <a:r>
              <a:rPr lang="en-US" sz="1600">
                <a:solidFill>
                  <a:srgbClr val="1F1F1F"/>
                </a:solidFill>
              </a:rPr>
              <a:t>) and Delayed (</a:t>
            </a:r>
            <a:r>
              <a:rPr lang="en-US" sz="1600" b="1">
                <a:solidFill>
                  <a:srgbClr val="1F1F1F"/>
                </a:solidFill>
              </a:rPr>
              <a:t>36.27 </a:t>
            </a:r>
            <a:r>
              <a:rPr lang="en-US" sz="1600" b="1" err="1">
                <a:solidFill>
                  <a:srgbClr val="1F1F1F"/>
                </a:solidFill>
              </a:rPr>
              <a:t>hrs</a:t>
            </a:r>
            <a:r>
              <a:rPr lang="en-US" sz="1600">
                <a:solidFill>
                  <a:srgbClr val="1F1F1F"/>
                </a:solidFill>
              </a:rPr>
              <a:t>) shipments take ~</a:t>
            </a:r>
            <a:r>
              <a:rPr lang="en-US" sz="1600" b="1">
                <a:solidFill>
                  <a:srgbClr val="1F1F1F"/>
                </a:solidFill>
              </a:rPr>
              <a:t>13+ hours longer</a:t>
            </a:r>
            <a:r>
              <a:rPr lang="en-US" sz="1600">
                <a:solidFill>
                  <a:srgbClr val="1F1F1F"/>
                </a:solidFill>
              </a:rPr>
              <a:t> than Delivered shipments (</a:t>
            </a:r>
            <a:r>
              <a:rPr lang="en-US" sz="1600" b="1">
                <a:solidFill>
                  <a:srgbClr val="1F1F1F"/>
                </a:solidFill>
              </a:rPr>
              <a:t>23.24 </a:t>
            </a:r>
            <a:r>
              <a:rPr lang="en-US" sz="1600" b="1" err="1">
                <a:solidFill>
                  <a:srgbClr val="1F1F1F"/>
                </a:solidFill>
              </a:rPr>
              <a:t>hrs</a:t>
            </a:r>
            <a:r>
              <a:rPr lang="en-US" sz="1600">
                <a:solidFill>
                  <a:srgbClr val="1F1F1F"/>
                </a:solidFill>
              </a:rPr>
              <a:t>); distance is relatively consistent (</a:t>
            </a:r>
            <a:r>
              <a:rPr lang="en-US" sz="1600" b="1">
                <a:solidFill>
                  <a:srgbClr val="1F1F1F"/>
                </a:solidFill>
              </a:rPr>
              <a:t>893–936 km</a:t>
            </a:r>
            <a:r>
              <a:rPr lang="en-US" sz="1600">
                <a:solidFill>
                  <a:srgbClr val="1F1F1F"/>
                </a:solidFill>
              </a:rPr>
              <a:t>), suggesting operational factors are more relevant.</a:t>
            </a:r>
          </a:p>
          <a:p>
            <a:pPr marL="285750" indent="-285750">
              <a:buChar char="•"/>
            </a:pPr>
            <a:endParaRPr lang="en-US" sz="16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600" b="1">
                <a:solidFill>
                  <a:srgbClr val="1F1F1F"/>
                </a:solidFill>
              </a:rPr>
              <a:t>Delivery success is ~63.5%:</a:t>
            </a:r>
            <a:r>
              <a:rPr lang="en-US" sz="1600">
                <a:solidFill>
                  <a:srgbClr val="1F1F1F"/>
                </a:solidFill>
              </a:rPr>
              <a:t> Of </a:t>
            </a:r>
            <a:r>
              <a:rPr lang="en-US" sz="1600" b="1">
                <a:solidFill>
                  <a:srgbClr val="1F1F1F"/>
                </a:solidFill>
              </a:rPr>
              <a:t>5,800 shipments</a:t>
            </a:r>
            <a:r>
              <a:rPr lang="en-US" sz="1600">
                <a:solidFill>
                  <a:srgbClr val="1F1F1F"/>
                </a:solidFill>
              </a:rPr>
              <a:t>, </a:t>
            </a:r>
            <a:r>
              <a:rPr lang="en-US" sz="1600" b="1">
                <a:solidFill>
                  <a:srgbClr val="1F1F1F"/>
                </a:solidFill>
              </a:rPr>
              <a:t>3,686</a:t>
            </a:r>
            <a:r>
              <a:rPr lang="en-US" sz="1600">
                <a:solidFill>
                  <a:srgbClr val="1F1F1F"/>
                </a:solidFill>
              </a:rPr>
              <a:t> are delivered successfully, while ~</a:t>
            </a:r>
            <a:r>
              <a:rPr lang="en-US" sz="1600" b="1">
                <a:solidFill>
                  <a:srgbClr val="1F1F1F"/>
                </a:solidFill>
              </a:rPr>
              <a:t>33%</a:t>
            </a:r>
            <a:r>
              <a:rPr lang="en-US" sz="1600">
                <a:solidFill>
                  <a:srgbClr val="1F1F1F"/>
                </a:solidFill>
              </a:rPr>
              <a:t> are Delayed or Damaged.</a:t>
            </a:r>
          </a:p>
          <a:p>
            <a:pPr marL="285750" indent="-285750">
              <a:buChar char="•"/>
            </a:pPr>
            <a:endParaRPr lang="en-US" sz="16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600" b="1">
                <a:solidFill>
                  <a:srgbClr val="1F1F1F"/>
                </a:solidFill>
              </a:rPr>
              <a:t>High-volume hubs carry greater risk:</a:t>
            </a:r>
            <a:r>
              <a:rPr lang="en-US" sz="1600">
                <a:solidFill>
                  <a:srgbClr val="1F1F1F"/>
                </a:solidFill>
              </a:rPr>
              <a:t> Kochi and Lucknow show higher damage rates (</a:t>
            </a:r>
            <a:r>
              <a:rPr lang="en-US" sz="1600" b="1">
                <a:solidFill>
                  <a:srgbClr val="1F1F1F"/>
                </a:solidFill>
              </a:rPr>
              <a:t>21.38%</a:t>
            </a:r>
            <a:r>
              <a:rPr lang="en-US" sz="1600">
                <a:solidFill>
                  <a:srgbClr val="1F1F1F"/>
                </a:solidFill>
              </a:rPr>
              <a:t> and </a:t>
            </a:r>
            <a:r>
              <a:rPr lang="en-US" sz="1600" b="1">
                <a:solidFill>
                  <a:srgbClr val="1F1F1F"/>
                </a:solidFill>
              </a:rPr>
              <a:t>18.50%</a:t>
            </a:r>
            <a:r>
              <a:rPr lang="en-US" sz="1600">
                <a:solidFill>
                  <a:srgbClr val="1F1F1F"/>
                </a:solidFill>
              </a:rPr>
              <a:t>), while Hyderabad has </a:t>
            </a:r>
            <a:r>
              <a:rPr lang="en-US" sz="1600" b="1">
                <a:solidFill>
                  <a:srgbClr val="1F1F1F"/>
                </a:solidFill>
              </a:rPr>
              <a:t>₹10.7+ crore</a:t>
            </a:r>
            <a:r>
              <a:rPr lang="en-US" sz="1600">
                <a:solidFill>
                  <a:srgbClr val="1F1F1F"/>
                </a:solidFill>
              </a:rPr>
              <a:t> in delayed shipment value.</a:t>
            </a:r>
          </a:p>
          <a:p>
            <a:pPr marL="285750" indent="-285750">
              <a:buChar char="•"/>
            </a:pPr>
            <a:endParaRPr lang="en-US" sz="16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600" b="1">
                <a:solidFill>
                  <a:srgbClr val="1F1F1F"/>
                </a:solidFill>
              </a:rPr>
              <a:t>Delivery performance remains stable but weakens during peak volume:</a:t>
            </a:r>
            <a:r>
              <a:rPr lang="en-US" sz="1600">
                <a:solidFill>
                  <a:srgbClr val="1F1F1F"/>
                </a:solidFill>
              </a:rPr>
              <a:t> Average on-time delivery is </a:t>
            </a:r>
            <a:r>
              <a:rPr lang="en-US" sz="1600" b="1">
                <a:solidFill>
                  <a:srgbClr val="1F1F1F"/>
                </a:solidFill>
              </a:rPr>
              <a:t>63.6%</a:t>
            </a:r>
            <a:r>
              <a:rPr lang="en-US" sz="1600">
                <a:solidFill>
                  <a:srgbClr val="1F1F1F"/>
                </a:solidFill>
              </a:rPr>
              <a:t>; it falls to </a:t>
            </a:r>
            <a:r>
              <a:rPr lang="en-US" sz="1600" b="1">
                <a:solidFill>
                  <a:srgbClr val="1F1F1F"/>
                </a:solidFill>
              </a:rPr>
              <a:t>57.21% in January 2026</a:t>
            </a:r>
            <a:r>
              <a:rPr lang="en-US" sz="1600">
                <a:solidFill>
                  <a:srgbClr val="1F1F1F"/>
                </a:solidFill>
              </a:rPr>
              <a:t>, when damaged shipments peak at </a:t>
            </a:r>
            <a:r>
              <a:rPr lang="en-US" sz="1600" b="1">
                <a:solidFill>
                  <a:srgbClr val="1F1F1F"/>
                </a:solidFill>
              </a:rPr>
              <a:t>45</a:t>
            </a:r>
            <a:r>
              <a:rPr lang="en-US" sz="1600">
                <a:solidFill>
                  <a:srgbClr val="1F1F1F"/>
                </a:solidFill>
              </a:rPr>
              <a:t>.</a:t>
            </a:r>
          </a:p>
          <a:p>
            <a:pPr marL="285750" indent="-285750">
              <a:buChar char="•"/>
            </a:pPr>
            <a:endParaRPr lang="en-US" sz="16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600" b="1">
                <a:solidFill>
                  <a:srgbClr val="1F1F1F"/>
                </a:solidFill>
              </a:rPr>
              <a:t>Most shipments succeed on the first attempt:</a:t>
            </a:r>
            <a:r>
              <a:rPr lang="en-US" sz="1600">
                <a:solidFill>
                  <a:srgbClr val="1F1F1F"/>
                </a:solidFill>
              </a:rPr>
              <a:t> </a:t>
            </a:r>
            <a:r>
              <a:rPr lang="en-US" sz="1600" b="1">
                <a:solidFill>
                  <a:srgbClr val="1F1F1F"/>
                </a:solidFill>
              </a:rPr>
              <a:t>4,750 of 5,800 (82%)</a:t>
            </a:r>
            <a:r>
              <a:rPr lang="en-US" sz="1600">
                <a:solidFill>
                  <a:srgbClr val="1F1F1F"/>
                </a:solidFill>
              </a:rPr>
              <a:t> are completed on Attempt 1, though damage remains high (</a:t>
            </a:r>
            <a:r>
              <a:rPr lang="en-US" sz="1600" b="1">
                <a:solidFill>
                  <a:srgbClr val="1F1F1F"/>
                </a:solidFill>
              </a:rPr>
              <a:t>17%</a:t>
            </a:r>
            <a:r>
              <a:rPr lang="en-US" sz="1600">
                <a:solidFill>
                  <a:srgbClr val="1F1F1F"/>
                </a:solidFill>
              </a:rPr>
              <a:t>) compared with Attempt 2 (</a:t>
            </a:r>
            <a:r>
              <a:rPr lang="en-US" sz="1600" b="1">
                <a:solidFill>
                  <a:srgbClr val="1F1F1F"/>
                </a:solidFill>
              </a:rPr>
              <a:t>13.71%</a:t>
            </a:r>
            <a:r>
              <a:rPr lang="en-US" sz="1600">
                <a:solidFill>
                  <a:srgbClr val="1F1F1F"/>
                </a:solidFill>
              </a:rPr>
              <a:t>).</a:t>
            </a:r>
            <a:endParaRPr lang="en-US" sz="1600"/>
          </a:p>
          <a:p>
            <a:endParaRPr lang="en-US" b="1">
              <a:solidFill>
                <a:srgbClr val="1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55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BBC464-5324-5200-9197-47393991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CE1570F-E315-C325-497E-847A93906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Analysis of the objectives :- </a:t>
            </a:r>
            <a:r>
              <a:rPr lang="en-US" sz="2400" b="1">
                <a:solidFill>
                  <a:srgbClr val="FF0000"/>
                </a:solidFill>
              </a:rPr>
              <a:t>Staff and Vehicle Performance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7B5800-8F67-C07C-51F9-BD2FCA1C2410}"/>
              </a:ext>
            </a:extLst>
          </p:cNvPr>
          <p:cNvSpPr txBox="1"/>
          <p:nvPr/>
        </p:nvSpPr>
        <p:spPr>
          <a:xfrm>
            <a:off x="281836" y="1533951"/>
            <a:ext cx="11628328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b="1"/>
              <a:t>Workload is balanced across employment types:</a:t>
            </a:r>
            <a:r>
              <a:rPr lang="en-US" sz="1600"/>
              <a:t> Full-time, Contract and Part-time staff handle comparable volumes, with top performers managing </a:t>
            </a:r>
            <a:r>
              <a:rPr lang="en-US" sz="1600" b="1"/>
              <a:t>59–66 shipments</a:t>
            </a:r>
            <a:r>
              <a:rPr lang="en-US" sz="1600"/>
              <a:t>.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Staff reliability varies significantly:</a:t>
            </a:r>
            <a:r>
              <a:rPr lang="en-US" sz="1600"/>
              <a:t> Success rates range from </a:t>
            </a:r>
            <a:r>
              <a:rPr lang="en-US" sz="1600" b="1"/>
              <a:t>42.22% to 79.07%</a:t>
            </a:r>
            <a:r>
              <a:rPr lang="en-US" sz="1600"/>
              <a:t>, a ~</a:t>
            </a:r>
            <a:r>
              <a:rPr lang="en-US" sz="1600" b="1"/>
              <a:t>37 percentage-point gap</a:t>
            </a:r>
            <a:r>
              <a:rPr lang="en-US" sz="1600"/>
              <a:t>; most staff remain within the </a:t>
            </a:r>
            <a:r>
              <a:rPr lang="en-US" sz="1600" b="1"/>
              <a:t>55–68%</a:t>
            </a:r>
            <a:r>
              <a:rPr lang="en-US" sz="1600"/>
              <a:t> range.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Speed and ratings do not guarantee delivery success:</a:t>
            </a:r>
            <a:r>
              <a:rPr lang="en-US" sz="1600"/>
              <a:t> Michelle Koch has the fastest transit time (</a:t>
            </a:r>
            <a:r>
              <a:rPr lang="en-US" sz="1600" b="1"/>
              <a:t>17.37 </a:t>
            </a:r>
            <a:r>
              <a:rPr lang="en-US" sz="1600" b="1" err="1"/>
              <a:t>hrs</a:t>
            </a:r>
            <a:r>
              <a:rPr lang="en-US" sz="1600"/>
              <a:t>) but the lowest success rate (</a:t>
            </a:r>
            <a:r>
              <a:rPr lang="en-US" sz="1600" b="1"/>
              <a:t>42.22%</a:t>
            </a:r>
            <a:r>
              <a:rPr lang="en-US" sz="1600"/>
              <a:t>), while Donna Watson has a </a:t>
            </a:r>
            <a:r>
              <a:rPr lang="en-US" sz="1600" b="1"/>
              <a:t>5.00 rating</a:t>
            </a:r>
            <a:r>
              <a:rPr lang="en-US" sz="1600"/>
              <a:t> but averages </a:t>
            </a:r>
            <a:r>
              <a:rPr lang="en-US" sz="1600" b="1"/>
              <a:t>25.70 hrs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Mini Trucks dominate fleet volume:</a:t>
            </a:r>
            <a:r>
              <a:rPr lang="en-US" sz="1600"/>
              <a:t> </a:t>
            </a:r>
            <a:r>
              <a:rPr lang="en-US" sz="1600" b="1"/>
              <a:t>1,675 trips across 26 vehicles</a:t>
            </a:r>
            <a:r>
              <a:rPr lang="en-US" sz="1600"/>
              <a:t>, accounting for </a:t>
            </a:r>
            <a:r>
              <a:rPr lang="en-US" sz="1600" b="1"/>
              <a:t>30%+</a:t>
            </a:r>
            <a:r>
              <a:rPr lang="en-US" sz="1600"/>
              <a:t> of total trips, while Refrigerated Trucks have the highest payload density at </a:t>
            </a:r>
            <a:r>
              <a:rPr lang="en-US" sz="1600" b="1"/>
              <a:t>1,131.74 load units/trip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Vehicle reliability remains a concern:</a:t>
            </a:r>
            <a:r>
              <a:rPr lang="en-US" sz="1600"/>
              <a:t> Overall issue rate is ~</a:t>
            </a:r>
            <a:r>
              <a:rPr lang="en-US" sz="1600" b="1"/>
              <a:t>36%</a:t>
            </a:r>
            <a:r>
              <a:rPr lang="en-US" sz="1600"/>
              <a:t>, with V017, V005 and V042 recording lower issue rates of </a:t>
            </a:r>
            <a:r>
              <a:rPr lang="en-US" sz="1600" b="1"/>
              <a:t>23.44–25%</a:t>
            </a:r>
            <a:r>
              <a:rPr lang="en-US" sz="1600"/>
              <a:t>.</a:t>
            </a:r>
          </a:p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388303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D264BF7-39E3-0F68-DADB-1C9D1902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D30AE60-5F44-6F2B-51FE-90FAA08182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Analysis of the objectives :- </a:t>
            </a:r>
            <a:r>
              <a:rPr lang="en-US" sz="1300" b="1">
                <a:solidFill>
                  <a:srgbClr val="2E5C8A"/>
                </a:solidFill>
              </a:rPr>
              <a:t> </a:t>
            </a:r>
            <a:r>
              <a:rPr lang="en-US" sz="2400" b="1">
                <a:solidFill>
                  <a:srgbClr val="FF0000"/>
                </a:solidFill>
              </a:rPr>
              <a:t>Shipment 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18845-2A0A-F367-170D-8E3BFA241D86}"/>
              </a:ext>
            </a:extLst>
          </p:cNvPr>
          <p:cNvSpPr txBox="1"/>
          <p:nvPr/>
        </p:nvSpPr>
        <p:spPr>
          <a:xfrm>
            <a:off x="281836" y="944671"/>
            <a:ext cx="11628328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 b="1"/>
              <a:t>Multi-attempt orders show strong recovery:</a:t>
            </a:r>
            <a:r>
              <a:rPr lang="en-US" sz="1600"/>
              <a:t> </a:t>
            </a:r>
            <a:r>
              <a:rPr lang="en-US" sz="1600" b="1"/>
              <a:t>86.3%</a:t>
            </a:r>
            <a:r>
              <a:rPr lang="en-US" sz="1600"/>
              <a:t> end in Delivered vs. </a:t>
            </a:r>
            <a:r>
              <a:rPr lang="en-US" sz="1600" b="1"/>
              <a:t>58.5%</a:t>
            </a:r>
            <a:r>
              <a:rPr lang="en-US" sz="1600"/>
              <a:t> for single-attempt orders, with no Delayed cases recorded among multi-attempt orders.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/>
              <a:t>Problem shipments take longer despite similar distances:</a:t>
            </a:r>
            <a:r>
              <a:rPr lang="en-US" sz="1600"/>
              <a:t> Damaged/Delayed shipments average </a:t>
            </a:r>
            <a:r>
              <a:rPr lang="en-US" sz="1600" b="1"/>
              <a:t>36–37 </a:t>
            </a:r>
            <a:r>
              <a:rPr lang="en-US" sz="1600" b="1" err="1"/>
              <a:t>hrs</a:t>
            </a:r>
            <a:r>
              <a:rPr lang="en-US" sz="1600"/>
              <a:t> vs. </a:t>
            </a:r>
            <a:r>
              <a:rPr lang="en-US" sz="1600" b="1"/>
              <a:t>23.24 </a:t>
            </a:r>
            <a:r>
              <a:rPr lang="en-US" sz="1600" b="1" err="1"/>
              <a:t>hrs</a:t>
            </a:r>
            <a:r>
              <a:rPr lang="en-US" sz="1600"/>
              <a:t> for Delivered shipments, despite similar travel distances.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Warehouse issue rates are relatively consistent:</a:t>
            </a:r>
            <a:r>
              <a:rPr lang="en-US" sz="1600"/>
              <a:t> Most fall within </a:t>
            </a:r>
            <a:r>
              <a:rPr lang="en-US" sz="1600" b="1"/>
              <a:t>26–38%</a:t>
            </a:r>
            <a:r>
              <a:rPr lang="en-US" sz="1600"/>
              <a:t>, with no major regional or warehouse-type outlier.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Warehouse volume does not strongly affect reliability:</a:t>
            </a:r>
            <a:r>
              <a:rPr lang="en-US" sz="1600"/>
              <a:t> Distribution hubs handle </a:t>
            </a:r>
            <a:r>
              <a:rPr lang="en-US" sz="1600" b="1"/>
              <a:t>350–480 shipments</a:t>
            </a:r>
            <a:r>
              <a:rPr lang="en-US" sz="1600"/>
              <a:t> each, yet maintain mid-range issue rates of </a:t>
            </a:r>
            <a:r>
              <a:rPr lang="en-US" sz="1600" b="1"/>
              <a:t>33–37%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Supplier ratings do not reflect actual reliability:</a:t>
            </a:r>
            <a:r>
              <a:rPr lang="en-US" sz="1600"/>
              <a:t> Downs-Lee has a </a:t>
            </a:r>
            <a:r>
              <a:rPr lang="en-US" sz="1600" b="1"/>
              <a:t>4.21 rating but ~69% issue rate</a:t>
            </a:r>
            <a:r>
              <a:rPr lang="en-US" sz="1600"/>
              <a:t>, while Yates, Long &amp; Ross has </a:t>
            </a:r>
            <a:r>
              <a:rPr lang="en-US" sz="1600" b="1"/>
              <a:t>3.15 rating but ~18.5% issue rate</a:t>
            </a:r>
            <a:r>
              <a:rPr lang="en-US" sz="1600"/>
              <a:t>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Supplier issues are concentrated:</a:t>
            </a:r>
            <a:r>
              <a:rPr lang="en-US" sz="1600"/>
              <a:t> Most suppliers remain below </a:t>
            </a:r>
            <a:r>
              <a:rPr lang="en-US" sz="1600" b="1"/>
              <a:t>40%</a:t>
            </a:r>
            <a:r>
              <a:rPr lang="en-US" sz="1600"/>
              <a:t>, while only ~10 exceed </a:t>
            </a:r>
            <a:r>
              <a:rPr lang="en-US" sz="1600" b="1"/>
              <a:t>50%</a:t>
            </a:r>
            <a:r>
              <a:rPr lang="en-US" sz="1600"/>
              <a:t>, with the type of issue (Delayed vs. Damaged) varying considerably by supplier.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 b="1"/>
              <a:t>Action Focus:</a:t>
            </a:r>
            <a:r>
              <a:rPr lang="en-US" sz="1600"/>
              <a:t> Prioritize </a:t>
            </a:r>
            <a:r>
              <a:rPr lang="en-US" sz="1600" b="1"/>
              <a:t>high-issue suppliers and recurring damage/delay patterns</a:t>
            </a:r>
            <a:r>
              <a:rPr lang="en-US" sz="1600"/>
              <a:t>, while auditing handling, loading and transit processes to reduce avoidable shipment failures.</a:t>
            </a:r>
          </a:p>
          <a:p>
            <a:endParaRPr lang="en-US" b="1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9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CD9ABA6-31C3-C4E9-31DD-8D7DC2B5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E573B7A-6B0F-0042-D128-C8433C891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Overall Key Findings :-</a:t>
            </a:r>
            <a:endParaRPr lang="en-US" sz="1300" b="1">
              <a:solidFill>
                <a:srgbClr val="2E5C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29749-71D5-AE57-4CA6-73A58113F975}"/>
              </a:ext>
            </a:extLst>
          </p:cNvPr>
          <p:cNvSpPr txBox="1"/>
          <p:nvPr/>
        </p:nvSpPr>
        <p:spPr>
          <a:xfrm>
            <a:off x="281836" y="902918"/>
            <a:ext cx="11628328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1F1F1F"/>
                </a:solidFill>
              </a:rPr>
              <a:t>DEMAND :-</a:t>
            </a:r>
            <a:endParaRPr lang="en-US" sz="1800"/>
          </a:p>
          <a:p>
            <a:r>
              <a:rPr lang="en-US">
                <a:solidFill>
                  <a:srgbClr val="1F1F1F"/>
                </a:solidFill>
              </a:rPr>
              <a:t>Hyderabad, Mumbai &amp; Kochi are the leading spending hubs, with Hyderabad exceeding </a:t>
            </a:r>
            <a:r>
              <a:rPr lang="en-US" b="1">
                <a:solidFill>
                  <a:srgbClr val="1F1F1F"/>
                </a:solidFill>
              </a:rPr>
              <a:t>$383M</a:t>
            </a:r>
            <a:r>
              <a:rPr lang="en-US">
                <a:solidFill>
                  <a:srgbClr val="1F1F1F"/>
                </a:solidFill>
              </a:rPr>
              <a:t> in procurement spend.</a:t>
            </a:r>
            <a:endParaRPr lang="en-US"/>
          </a:p>
          <a:p>
            <a:endParaRPr lang="en-US">
              <a:solidFill>
                <a:srgbClr val="1F1F1F"/>
              </a:solidFill>
            </a:endParaRPr>
          </a:p>
          <a:p>
            <a:r>
              <a:rPr lang="en-US" sz="1800" b="1">
                <a:solidFill>
                  <a:srgbClr val="1F1F1F"/>
                </a:solidFill>
              </a:rPr>
              <a:t>PROCUREMENT :-</a:t>
            </a:r>
            <a:endParaRPr lang="en-US" sz="1800"/>
          </a:p>
          <a:p>
            <a:r>
              <a:rPr lang="en-US" sz="1600">
                <a:solidFill>
                  <a:srgbClr val="1F1F1F"/>
                </a:solidFill>
              </a:rPr>
              <a:t>Distributors &amp; wholesalers account for </a:t>
            </a:r>
            <a:r>
              <a:rPr lang="en-US" sz="1600" b="1">
                <a:solidFill>
                  <a:srgbClr val="1F1F1F"/>
                </a:solidFill>
              </a:rPr>
              <a:t>60%+ of network spend ($2.23B)</a:t>
            </a:r>
            <a:r>
              <a:rPr lang="en-US" sz="1600">
                <a:solidFill>
                  <a:srgbClr val="1F1F1F"/>
                </a:solidFill>
              </a:rPr>
              <a:t>, while Bulk orders consume </a:t>
            </a:r>
            <a:r>
              <a:rPr lang="en-US" sz="1600" b="1">
                <a:solidFill>
                  <a:srgbClr val="1F1F1F"/>
                </a:solidFill>
              </a:rPr>
              <a:t>61% of total budget ($2.77B)</a:t>
            </a:r>
            <a:r>
              <a:rPr lang="en-US" sz="1600">
                <a:solidFill>
                  <a:srgbClr val="1F1F1F"/>
                </a:solidFill>
              </a:rPr>
              <a:t>.</a:t>
            </a:r>
          </a:p>
          <a:p>
            <a:endParaRPr lang="en-US">
              <a:solidFill>
                <a:srgbClr val="1F1F1F"/>
              </a:solidFill>
            </a:endParaRPr>
          </a:p>
          <a:p>
            <a:r>
              <a:rPr lang="en-US" sz="1800" b="1">
                <a:solidFill>
                  <a:srgbClr val="1F1F1F"/>
                </a:solidFill>
              </a:rPr>
              <a:t>CATEGORIES :-</a:t>
            </a:r>
            <a:endParaRPr lang="en-US" sz="1800">
              <a:solidFill>
                <a:srgbClr val="1F1F1F"/>
              </a:solidFill>
            </a:endParaRPr>
          </a:p>
          <a:p>
            <a:r>
              <a:rPr lang="en-US">
                <a:solidFill>
                  <a:srgbClr val="1F1F1F"/>
                </a:solidFill>
              </a:rPr>
              <a:t>Electronics &amp; Furniture contribute </a:t>
            </a:r>
            <a:r>
              <a:rPr lang="en-US" b="1">
                <a:solidFill>
                  <a:srgbClr val="1F1F1F"/>
                </a:solidFill>
              </a:rPr>
              <a:t>71%+ of total spend ($3.23B)</a:t>
            </a:r>
            <a:r>
              <a:rPr lang="en-US">
                <a:solidFill>
                  <a:srgbClr val="1F1F1F"/>
                </a:solidFill>
              </a:rPr>
              <a:t>, while Grocery leads in order volume with </a:t>
            </a:r>
            <a:r>
              <a:rPr lang="en-US" b="1">
                <a:solidFill>
                  <a:srgbClr val="1F1F1F"/>
                </a:solidFill>
              </a:rPr>
              <a:t>1,406 orders</a:t>
            </a:r>
            <a:r>
              <a:rPr lang="en-US">
                <a:solidFill>
                  <a:srgbClr val="1F1F1F"/>
                </a:solidFill>
              </a:rPr>
              <a:t>.</a:t>
            </a:r>
            <a:endParaRPr lang="en-US"/>
          </a:p>
          <a:p>
            <a:endParaRPr lang="en-US">
              <a:solidFill>
                <a:srgbClr val="1F1F1F"/>
              </a:solidFill>
            </a:endParaRPr>
          </a:p>
          <a:p>
            <a:r>
              <a:rPr lang="en-US" sz="1800" b="1">
                <a:solidFill>
                  <a:srgbClr val="1F1F1F"/>
                </a:solidFill>
              </a:rPr>
              <a:t>DELIVERY :-</a:t>
            </a:r>
            <a:endParaRPr lang="en-US" sz="1800">
              <a:solidFill>
                <a:srgbClr val="1F1F1F"/>
              </a:solidFill>
            </a:endParaRPr>
          </a:p>
          <a:p>
            <a:r>
              <a:rPr lang="en-US">
                <a:solidFill>
                  <a:srgbClr val="1F1F1F"/>
                </a:solidFill>
              </a:rPr>
              <a:t>Only </a:t>
            </a:r>
            <a:r>
              <a:rPr lang="en-US" b="1">
                <a:solidFill>
                  <a:srgbClr val="1F1F1F"/>
                </a:solidFill>
              </a:rPr>
              <a:t>~63.5% of shipments</a:t>
            </a:r>
            <a:r>
              <a:rPr lang="en-US">
                <a:solidFill>
                  <a:srgbClr val="1F1F1F"/>
                </a:solidFill>
              </a:rPr>
              <a:t> are successfully delivered; Damaged/Delayed shipments take </a:t>
            </a:r>
            <a:r>
              <a:rPr lang="en-US" b="1">
                <a:solidFill>
                  <a:srgbClr val="1F1F1F"/>
                </a:solidFill>
              </a:rPr>
              <a:t>13–14 hours longer</a:t>
            </a:r>
            <a:r>
              <a:rPr lang="en-US">
                <a:solidFill>
                  <a:srgbClr val="1F1F1F"/>
                </a:solidFill>
              </a:rPr>
              <a:t> than successful deliveries.</a:t>
            </a:r>
            <a:endParaRPr lang="en-US"/>
          </a:p>
          <a:p>
            <a:endParaRPr lang="en-US">
              <a:solidFill>
                <a:srgbClr val="1F1F1F"/>
              </a:solidFill>
            </a:endParaRPr>
          </a:p>
          <a:p>
            <a:r>
              <a:rPr lang="en-US" sz="1800" b="1">
                <a:solidFill>
                  <a:srgbClr val="1F1F1F"/>
                </a:solidFill>
              </a:rPr>
              <a:t>RESOURCES :-</a:t>
            </a:r>
            <a:endParaRPr lang="en-US" sz="1800"/>
          </a:p>
          <a:p>
            <a:r>
              <a:rPr lang="en-US">
                <a:solidFill>
                  <a:srgbClr val="1F1F1F"/>
                </a:solidFill>
              </a:rPr>
              <a:t>Mini Trucks handle the highest fleet volume (</a:t>
            </a:r>
            <a:r>
              <a:rPr lang="en-US" b="1">
                <a:solidFill>
                  <a:srgbClr val="1F1F1F"/>
                </a:solidFill>
              </a:rPr>
              <a:t>1,675 trips across 26 vehicles</a:t>
            </a:r>
            <a:r>
              <a:rPr lang="en-US">
                <a:solidFill>
                  <a:srgbClr val="1F1F1F"/>
                </a:solidFill>
              </a:rPr>
              <a:t>), while Refrigerated Trucks carry the highest payload density.</a:t>
            </a:r>
            <a:endParaRPr lang="en-US"/>
          </a:p>
          <a:p>
            <a:endParaRPr lang="en-US" sz="1800">
              <a:solidFill>
                <a:srgbClr val="1F1F1F"/>
              </a:solidFill>
            </a:endParaRPr>
          </a:p>
          <a:p>
            <a:r>
              <a:rPr lang="en-US" sz="1800" b="1">
                <a:solidFill>
                  <a:srgbClr val="1F1F1F"/>
                </a:solidFill>
              </a:rPr>
              <a:t>PROBLEMS :-</a:t>
            </a:r>
            <a:endParaRPr lang="en-US" sz="1800"/>
          </a:p>
          <a:p>
            <a:r>
              <a:rPr lang="en-US">
                <a:solidFill>
                  <a:srgbClr val="1F1F1F"/>
                </a:solidFill>
              </a:rPr>
              <a:t>Supplier problem rates vary significantly, with Downs-Lee reaching </a:t>
            </a:r>
            <a:r>
              <a:rPr lang="en-US" b="1">
                <a:solidFill>
                  <a:srgbClr val="1F1F1F"/>
                </a:solidFill>
              </a:rPr>
              <a:t>~69%</a:t>
            </a:r>
            <a:r>
              <a:rPr lang="en-US">
                <a:solidFill>
                  <a:srgbClr val="1F1F1F"/>
                </a:solidFill>
              </a:rPr>
              <a:t>; high-volume hubs also maintain </a:t>
            </a:r>
            <a:r>
              <a:rPr lang="en-US" b="1">
                <a:solidFill>
                  <a:srgbClr val="1F1F1F"/>
                </a:solidFill>
              </a:rPr>
              <a:t>~33–37%</a:t>
            </a:r>
            <a:r>
              <a:rPr lang="en-US">
                <a:solidFill>
                  <a:srgbClr val="1F1F1F"/>
                </a:solidFill>
              </a:rPr>
              <a:t> shipment issue rates.</a:t>
            </a:r>
            <a:endParaRPr lang="en-US"/>
          </a:p>
          <a:p>
            <a:endParaRPr lang="en-US">
              <a:solidFill>
                <a:srgbClr val="1F1F1F"/>
              </a:solidFill>
            </a:endParaRPr>
          </a:p>
          <a:p>
            <a:r>
              <a:rPr lang="en-US" sz="1800" b="1">
                <a:solidFill>
                  <a:srgbClr val="1F1F1F"/>
                </a:solidFill>
              </a:rPr>
              <a:t>ACTION :-</a:t>
            </a:r>
            <a:endParaRPr lang="en-US" sz="1800">
              <a:solidFill>
                <a:srgbClr val="1F1F1F"/>
              </a:solidFill>
            </a:endParaRPr>
          </a:p>
          <a:p>
            <a:r>
              <a:rPr lang="en-US">
                <a:solidFill>
                  <a:srgbClr val="1F1F1F"/>
                </a:solidFill>
              </a:rPr>
              <a:t>Prioritize </a:t>
            </a:r>
            <a:r>
              <a:rPr lang="en-US" b="1">
                <a:solidFill>
                  <a:srgbClr val="1F1F1F"/>
                </a:solidFill>
              </a:rPr>
              <a:t>high-problem suppliers</a:t>
            </a:r>
            <a:r>
              <a:rPr lang="en-US">
                <a:solidFill>
                  <a:srgbClr val="1F1F1F"/>
                </a:solidFill>
              </a:rPr>
              <a:t>, investigate </a:t>
            </a:r>
            <a:r>
              <a:rPr lang="en-US" b="1">
                <a:solidFill>
                  <a:srgbClr val="1F1F1F"/>
                </a:solidFill>
              </a:rPr>
              <a:t>damage and transit bottlenecks</a:t>
            </a:r>
            <a:r>
              <a:rPr lang="en-US">
                <a:solidFill>
                  <a:srgbClr val="1F1F1F"/>
                </a:solidFill>
              </a:rPr>
              <a:t>, and strengthen capacity planning during </a:t>
            </a:r>
            <a:r>
              <a:rPr lang="en-US" b="1">
                <a:solidFill>
                  <a:srgbClr val="1F1F1F"/>
                </a:solidFill>
              </a:rPr>
              <a:t>peak-demand periods</a:t>
            </a:r>
            <a:r>
              <a:rPr lang="en-US">
                <a:solidFill>
                  <a:srgbClr val="1F1F1F"/>
                </a:solidFill>
              </a:rPr>
              <a:t>.</a:t>
            </a:r>
            <a:endParaRPr lang="en-US"/>
          </a:p>
          <a:p>
            <a:endParaRPr lang="en-US" b="1">
              <a:solidFill>
                <a:srgbClr val="1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74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F57D665-38EC-4DB1-469F-0FC2E9FD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CD5948D-C78C-32F9-AD7E-5970650BE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Business Recommendations :-</a:t>
            </a:r>
            <a:endParaRPr lang="en-US" sz="1300" b="1">
              <a:solidFill>
                <a:srgbClr val="2E5C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DD70C5-D6DE-2773-51EB-8FCC47BE6F6C}"/>
              </a:ext>
            </a:extLst>
          </p:cNvPr>
          <p:cNvSpPr txBox="1"/>
          <p:nvPr/>
        </p:nvSpPr>
        <p:spPr>
          <a:xfrm>
            <a:off x="281836" y="1164434"/>
            <a:ext cx="1162832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sz="1800" b="1">
                <a:solidFill>
                  <a:srgbClr val="1F1F1F"/>
                </a:solidFill>
              </a:rPr>
              <a:t> Review high-spend hubs</a:t>
            </a:r>
            <a:r>
              <a:rPr lang="en-US" sz="1800">
                <a:solidFill>
                  <a:srgbClr val="1F1F1F"/>
                </a:solidFill>
              </a:rPr>
              <a:t> like Hyderabad, Mumbai and Kochi to improve procurement cost efficiency.</a:t>
            </a: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>
              <a:buChar char="•"/>
            </a:pPr>
            <a:r>
              <a:rPr lang="en-US" sz="1800" b="1">
                <a:solidFill>
                  <a:srgbClr val="1F1F1F"/>
                </a:solidFill>
              </a:rPr>
              <a:t> Evaluate direct manufacturer sourcing</a:t>
            </a:r>
            <a:r>
              <a:rPr lang="en-US" sz="1800">
                <a:solidFill>
                  <a:srgbClr val="1F1F1F"/>
                </a:solidFill>
              </a:rPr>
              <a:t> to reduce the current dependence on distributors and wholesalers.</a:t>
            </a: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>
              <a:buChar char="•"/>
            </a:pPr>
            <a:r>
              <a:rPr lang="en-US" sz="1800" b="1">
                <a:solidFill>
                  <a:srgbClr val="1F1F1F"/>
                </a:solidFill>
              </a:rPr>
              <a:t> Tighten controls on Bulk orders</a:t>
            </a:r>
            <a:r>
              <a:rPr lang="en-US" sz="1800">
                <a:solidFill>
                  <a:srgbClr val="1F1F1F"/>
                </a:solidFill>
              </a:rPr>
              <a:t>, as they represent only </a:t>
            </a:r>
            <a:r>
              <a:rPr lang="en-US" sz="1800" b="1">
                <a:solidFill>
                  <a:srgbClr val="1F1F1F"/>
                </a:solidFill>
              </a:rPr>
              <a:t>25.7% of orders but consume 61% of the budget</a:t>
            </a:r>
            <a:r>
              <a:rPr lang="en-US" sz="1800">
                <a:solidFill>
                  <a:srgbClr val="1F1F1F"/>
                </a:solidFill>
              </a:rPr>
              <a:t>.</a:t>
            </a: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>
              <a:buChar char="•"/>
            </a:pPr>
            <a:r>
              <a:rPr lang="en-US" sz="1800" b="1">
                <a:solidFill>
                  <a:srgbClr val="1F1F1F"/>
                </a:solidFill>
              </a:rPr>
              <a:t> Prioritize Electronics and Furniture procurement</a:t>
            </a:r>
            <a:r>
              <a:rPr lang="en-US" sz="1800">
                <a:solidFill>
                  <a:srgbClr val="1F1F1F"/>
                </a:solidFill>
              </a:rPr>
              <a:t>, which together account for </a:t>
            </a:r>
            <a:r>
              <a:rPr lang="en-US" sz="1800" b="1">
                <a:solidFill>
                  <a:srgbClr val="1F1F1F"/>
                </a:solidFill>
              </a:rPr>
              <a:t>71%+ of total spend</a:t>
            </a:r>
            <a:r>
              <a:rPr lang="en-US" sz="1800">
                <a:solidFill>
                  <a:srgbClr val="1F1F1F"/>
                </a:solidFill>
              </a:rPr>
              <a:t>, for better cost and demand planning.</a:t>
            </a: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>
              <a:buChar char="•"/>
            </a:pPr>
            <a:r>
              <a:rPr lang="en-US" sz="1800" b="1">
                <a:solidFill>
                  <a:srgbClr val="1F1F1F"/>
                </a:solidFill>
              </a:rPr>
              <a:t> Investigate high-problem suppliers</a:t>
            </a:r>
            <a:r>
              <a:rPr lang="en-US" sz="1800">
                <a:solidFill>
                  <a:srgbClr val="1F1F1F"/>
                </a:solidFill>
              </a:rPr>
              <a:t>, particularly suppliers exceeding </a:t>
            </a:r>
            <a:r>
              <a:rPr lang="en-US" sz="1800" b="1">
                <a:solidFill>
                  <a:srgbClr val="1F1F1F"/>
                </a:solidFill>
              </a:rPr>
              <a:t>50% Damaged/Delayed shipment rates</a:t>
            </a:r>
            <a:r>
              <a:rPr lang="en-US" sz="1800">
                <a:solidFill>
                  <a:srgbClr val="1F1F1F"/>
                </a:solidFill>
              </a:rPr>
              <a:t>, and initiate corrective action.</a:t>
            </a: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>
              <a:buChar char="•"/>
            </a:pPr>
            <a:r>
              <a:rPr lang="en-US" sz="1800" b="1">
                <a:solidFill>
                  <a:srgbClr val="1F1F1F"/>
                </a:solidFill>
              </a:rPr>
              <a:t> Focus on transit and handling processes</a:t>
            </a:r>
            <a:r>
              <a:rPr lang="en-US" sz="1800">
                <a:solidFill>
                  <a:srgbClr val="1F1F1F"/>
                </a:solidFill>
              </a:rPr>
              <a:t>, since Damaged/Delayed shipments take </a:t>
            </a:r>
            <a:r>
              <a:rPr lang="en-US" sz="1800" b="1">
                <a:solidFill>
                  <a:srgbClr val="1F1F1F"/>
                </a:solidFill>
              </a:rPr>
              <a:t>13–14 hours longer</a:t>
            </a:r>
            <a:r>
              <a:rPr lang="en-US" sz="1800">
                <a:solidFill>
                  <a:srgbClr val="1F1F1F"/>
                </a:solidFill>
              </a:rPr>
              <a:t> despite similar travel distances.</a:t>
            </a: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63578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7100A93-5205-0546-31BC-32CE1AF5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C8BD1C2-DD6F-F00D-69D6-24DEC766D7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Business Recommendations :-</a:t>
            </a:r>
            <a:endParaRPr lang="en-US" sz="1300" b="1">
              <a:solidFill>
                <a:srgbClr val="2E5C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B9E552-F7DB-AC3D-5B80-C9D7E6FE5B83}"/>
              </a:ext>
            </a:extLst>
          </p:cNvPr>
          <p:cNvSpPr txBox="1"/>
          <p:nvPr/>
        </p:nvSpPr>
        <p:spPr>
          <a:xfrm>
            <a:off x="281836" y="1164434"/>
            <a:ext cx="1162832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1800" b="1">
                <a:solidFill>
                  <a:srgbClr val="1F1F1F"/>
                </a:solidFill>
              </a:rPr>
              <a:t>Use multi-attempt recovery strategically</a:t>
            </a:r>
            <a:r>
              <a:rPr lang="en-US" sz="1800">
                <a:solidFill>
                  <a:srgbClr val="1F1F1F"/>
                </a:solidFill>
              </a:rPr>
              <a:t>, as </a:t>
            </a:r>
            <a:r>
              <a:rPr lang="en-US" sz="1800" b="1">
                <a:solidFill>
                  <a:srgbClr val="1F1F1F"/>
                </a:solidFill>
              </a:rPr>
              <a:t>86.3% of multi-attempt orders ultimately reach Deliveredstatus</a:t>
            </a:r>
            <a:r>
              <a:rPr lang="en-US" sz="1800">
                <a:solidFill>
                  <a:srgbClr val="1F1F1F"/>
                </a:solidFill>
              </a:rPr>
              <a:t>.</a:t>
            </a:r>
            <a:endParaRPr lang="en-US" sz="1800"/>
          </a:p>
          <a:p>
            <a:pPr marL="285750" indent="-285750">
              <a:buFont typeface="Arial,Sans-Serif"/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800" b="1">
                <a:solidFill>
                  <a:srgbClr val="1F1F1F"/>
                </a:solidFill>
              </a:rPr>
              <a:t>Prepare additional operational capacity during peak periods</a:t>
            </a:r>
            <a:r>
              <a:rPr lang="en-US" sz="1800">
                <a:solidFill>
                  <a:srgbClr val="1F1F1F"/>
                </a:solidFill>
              </a:rPr>
              <a:t>, especially around </a:t>
            </a:r>
            <a:r>
              <a:rPr lang="en-US" sz="1800" b="1">
                <a:solidFill>
                  <a:srgbClr val="1F1F1F"/>
                </a:solidFill>
              </a:rPr>
              <a:t>June and year-end</a:t>
            </a:r>
            <a:r>
              <a:rPr lang="en-US" sz="1800">
                <a:solidFill>
                  <a:srgbClr val="1F1F1F"/>
                </a:solidFill>
              </a:rPr>
              <a:t>, </a:t>
            </a:r>
            <a:r>
              <a:rPr lang="en-US" sz="1800" err="1">
                <a:solidFill>
                  <a:srgbClr val="1F1F1F"/>
                </a:solidFill>
              </a:rPr>
              <a:t>whenprocurement</a:t>
            </a:r>
            <a:r>
              <a:rPr lang="en-US" sz="1800">
                <a:solidFill>
                  <a:srgbClr val="1F1F1F"/>
                </a:solidFill>
              </a:rPr>
              <a:t> and shipment volumes increase.</a:t>
            </a:r>
            <a:endParaRPr lang="en-US" sz="1800"/>
          </a:p>
          <a:p>
            <a:pPr marL="285750" indent="-285750">
              <a:buFont typeface="Arial,Sans-Serif"/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800" b="1">
                <a:solidFill>
                  <a:srgbClr val="1F1F1F"/>
                </a:solidFill>
              </a:rPr>
              <a:t>Monitor high-volume Distribution hubs separately</a:t>
            </a:r>
            <a:r>
              <a:rPr lang="en-US" sz="1800">
                <a:solidFill>
                  <a:srgbClr val="1F1F1F"/>
                </a:solidFill>
              </a:rPr>
              <a:t>, as their large shipment volumes create greater </a:t>
            </a:r>
            <a:r>
              <a:rPr lang="en-US" sz="1800" err="1">
                <a:solidFill>
                  <a:srgbClr val="1F1F1F"/>
                </a:solidFill>
              </a:rPr>
              <a:t>exposureto</a:t>
            </a:r>
            <a:r>
              <a:rPr lang="en-US" sz="1800">
                <a:solidFill>
                  <a:srgbClr val="1F1F1F"/>
                </a:solidFill>
              </a:rPr>
              <a:t> delayed and damaged shipment value.</a:t>
            </a:r>
            <a:endParaRPr lang="en-US" sz="1800"/>
          </a:p>
          <a:p>
            <a:pPr marL="285750" indent="-285750">
              <a:buFont typeface="Arial,Sans-Serif"/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800" b="1">
                <a:solidFill>
                  <a:srgbClr val="1F1F1F"/>
                </a:solidFill>
              </a:rPr>
              <a:t>Use actual delivery performance alongside supplier ratings</a:t>
            </a:r>
            <a:r>
              <a:rPr lang="en-US" sz="1800">
                <a:solidFill>
                  <a:srgbClr val="1F1F1F"/>
                </a:solidFill>
              </a:rPr>
              <a:t> when evaluating suppliers, since ratings do </a:t>
            </a:r>
            <a:r>
              <a:rPr lang="en-US" sz="1800" err="1">
                <a:solidFill>
                  <a:srgbClr val="1F1F1F"/>
                </a:solidFill>
              </a:rPr>
              <a:t>notconsistently</a:t>
            </a:r>
            <a:r>
              <a:rPr lang="en-US" sz="1800">
                <a:solidFill>
                  <a:srgbClr val="1F1F1F"/>
                </a:solidFill>
              </a:rPr>
              <a:t> reflect Damaged/Delayed shipment rates.</a:t>
            </a:r>
            <a:endParaRPr lang="en-US" sz="1800"/>
          </a:p>
          <a:p>
            <a:pPr marL="285750" indent="-285750">
              <a:buFont typeface="Arial,Sans-Serif"/>
              <a:buChar char="•"/>
            </a:pPr>
            <a:endParaRPr lang="en-US" sz="1800"/>
          </a:p>
          <a:p>
            <a:pPr>
              <a:buChar char="•"/>
            </a:pPr>
            <a:endParaRPr lang="en-US" sz="1800">
              <a:solidFill>
                <a:srgbClr val="1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589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99B16CA-AADC-10F4-5CA5-0813778B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2AA6720-E95E-D31D-726A-CB0DFB3F6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Conclusion :-</a:t>
            </a:r>
            <a:endParaRPr lang="en-US" sz="1300" b="1">
              <a:solidFill>
                <a:srgbClr val="2E5C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68A05-20E4-0975-70FE-E3E74A3FD445}"/>
              </a:ext>
            </a:extLst>
          </p:cNvPr>
          <p:cNvSpPr txBox="1"/>
          <p:nvPr/>
        </p:nvSpPr>
        <p:spPr>
          <a:xfrm>
            <a:off x="281836" y="1083154"/>
            <a:ext cx="1162832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1F1F1F"/>
                </a:solidFill>
              </a:rPr>
              <a:t>The </a:t>
            </a:r>
            <a:r>
              <a:rPr lang="en-US" sz="1800" b="1">
                <a:solidFill>
                  <a:srgbClr val="1F1F1F"/>
                </a:solidFill>
              </a:rPr>
              <a:t>Retail Supply Chain &amp; Procurement Analytics</a:t>
            </a:r>
            <a:r>
              <a:rPr lang="en-US" sz="1800">
                <a:solidFill>
                  <a:srgbClr val="1F1F1F"/>
                </a:solidFill>
              </a:rPr>
              <a:t> project demonstrates how SQL can transform procurement, warehouse, supplier, and shipment data into meaningful business insights.</a:t>
            </a:r>
            <a:endParaRPr lang="en-US" sz="1800"/>
          </a:p>
          <a:p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1F1F1F"/>
                </a:solidFill>
              </a:rPr>
              <a:t>The analysis identifies </a:t>
            </a:r>
            <a:r>
              <a:rPr lang="en-US" sz="1800" b="1">
                <a:solidFill>
                  <a:srgbClr val="1F1F1F"/>
                </a:solidFill>
              </a:rPr>
              <a:t>spending patterns, high-value procurement segments, supplier reliability issues, warehouse performance, and delivery challenges</a:t>
            </a:r>
            <a:r>
              <a:rPr lang="en-US" sz="1800">
                <a:solidFill>
                  <a:srgbClr val="1F1F1F"/>
                </a:solidFill>
              </a:rPr>
              <a:t> across the network.</a:t>
            </a:r>
            <a:endParaRPr lang="en-US" sz="1800"/>
          </a:p>
          <a:p>
            <a:pPr marL="285750" indent="-285750"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1F1F1F"/>
                </a:solidFill>
              </a:rPr>
              <a:t>It highlights opportunities to improve </a:t>
            </a:r>
            <a:r>
              <a:rPr lang="en-US" sz="1800" b="1">
                <a:solidFill>
                  <a:srgbClr val="1F1F1F"/>
                </a:solidFill>
              </a:rPr>
              <a:t>procurement planning, supplier management, shipment reliability, warehouse operations, and resource utilization</a:t>
            </a:r>
            <a:r>
              <a:rPr lang="en-US" sz="1800">
                <a:solidFill>
                  <a:srgbClr val="1F1F1F"/>
                </a:solidFill>
              </a:rPr>
              <a:t>.</a:t>
            </a:r>
            <a:endParaRPr lang="en-US" sz="1800"/>
          </a:p>
          <a:p>
            <a:pPr marL="285750" indent="-285750"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1F1F1F"/>
                </a:solidFill>
              </a:rPr>
              <a:t>The project provides a </a:t>
            </a:r>
            <a:r>
              <a:rPr lang="en-US" sz="1800" b="1">
                <a:solidFill>
                  <a:srgbClr val="1F1F1F"/>
                </a:solidFill>
              </a:rPr>
              <a:t>data-driven foundation for identifying operational bottlenecks, controlling high-value spending, and improving supply chain efficiency</a:t>
            </a:r>
            <a:r>
              <a:rPr lang="en-US" sz="1800">
                <a:solidFill>
                  <a:srgbClr val="1F1F1F"/>
                </a:solidFill>
              </a:rPr>
              <a:t>.</a:t>
            </a:r>
            <a:endParaRPr lang="en-US" sz="1800"/>
          </a:p>
          <a:p>
            <a:pPr marL="285750" indent="-285750">
              <a:buChar char="•"/>
            </a:pPr>
            <a:endParaRPr lang="en-US" sz="1800">
              <a:solidFill>
                <a:srgbClr val="1F1F1F"/>
              </a:solidFill>
            </a:endParaRPr>
          </a:p>
          <a:p>
            <a:pPr marL="285750" indent="-285750">
              <a:buChar char="•"/>
            </a:pPr>
            <a:r>
              <a:rPr lang="en-US" sz="1800">
                <a:solidFill>
                  <a:srgbClr val="1F1F1F"/>
                </a:solidFill>
              </a:rPr>
              <a:t>Overall, </a:t>
            </a:r>
            <a:r>
              <a:rPr lang="en-US" sz="1800" b="1">
                <a:solidFill>
                  <a:srgbClr val="1F1F1F"/>
                </a:solidFill>
              </a:rPr>
              <a:t>SQL analytics converts complex supply chain data into actionable insights that can support better operational and procurement decisions</a:t>
            </a:r>
            <a:r>
              <a:rPr lang="en-US" sz="1800">
                <a:solidFill>
                  <a:srgbClr val="1F1F1F"/>
                </a:solidFill>
              </a:rPr>
              <a:t>.</a:t>
            </a:r>
            <a:endParaRPr lang="en-US" sz="1800"/>
          </a:p>
          <a:p>
            <a:endParaRPr lang="en-US" sz="1800">
              <a:solidFill>
                <a:srgbClr val="1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325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B1DE36C-23A4-915A-049A-7DDF85BD0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635EAA1-A870-7792-C095-50DFC4B6D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44" y="-14876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3600" b="1">
                <a:solidFill>
                  <a:srgbClr val="FF0000"/>
                </a:solidFill>
              </a:rPr>
              <a:t>Q&amp;A:-</a:t>
            </a:r>
            <a:endParaRPr lang="en-US" sz="1300" b="1">
              <a:solidFill>
                <a:srgbClr val="2E5C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C16E2-927B-A30E-0BE5-A9BAA74B1C5E}"/>
              </a:ext>
            </a:extLst>
          </p:cNvPr>
          <p:cNvSpPr txBox="1"/>
          <p:nvPr/>
        </p:nvSpPr>
        <p:spPr>
          <a:xfrm>
            <a:off x="281836" y="1184754"/>
            <a:ext cx="1162832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Question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889228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Table of contents </vt:lpstr>
      <vt:lpstr>Project Overview</vt:lpstr>
      <vt:lpstr>Business Scenario</vt:lpstr>
      <vt:lpstr>Business Objectives</vt:lpstr>
      <vt:lpstr>Dataset &amp; Database Overview</vt:lpstr>
      <vt:lpstr>ER Diagram &amp; Database Structure</vt:lpstr>
      <vt:lpstr>Basic Analysis:</vt:lpstr>
      <vt:lpstr>Analysis of the objectives :- Purchase Order Demand</vt:lpstr>
      <vt:lpstr>Analysis of the objectives :- Warehouse Ordering Behaviour</vt:lpstr>
      <vt:lpstr>Analysis of the objectives :- Shipment Performance</vt:lpstr>
      <vt:lpstr>Analysis of the objectives :- Staff and Vehicle Performance</vt:lpstr>
      <vt:lpstr>Analysis of the objectives :-  Shipment Problems</vt:lpstr>
      <vt:lpstr>Overall Key Findings :-</vt:lpstr>
      <vt:lpstr>Business Recommendations :-</vt:lpstr>
      <vt:lpstr>Business Recommendations :-</vt:lpstr>
      <vt:lpstr>Conclusion :-</vt:lpstr>
      <vt:lpstr>Q&amp;A:-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revision>1</cp:revision>
  <dcterms:created xsi:type="dcterms:W3CDTF">2021-02-16T05:19:01Z</dcterms:created>
  <dcterms:modified xsi:type="dcterms:W3CDTF">2026-09-17T06:53:27Z</dcterms:modified>
</cp:coreProperties>
</file>